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840480" cy="6858000"/>
          </a:xfrm>
          <a:prstGeom prst="rect">
            <a:avLst/>
          </a:prstGeom>
          <a:solidFill>
            <a:srgbClr val="1D4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91440" cy="544068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932688"/>
            <a:ext cx="667512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1">
                <a:solidFill>
                  <a:srgbClr val="95D8CF"/>
                </a:solidFill>
                <a:latin typeface="Aptos"/>
              </a:defRPr>
            </a:pPr>
            <a:r>
              <a:t>EXECUTIVE DELIVERY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7132320" cy="1417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Delivery plan &amp;</a:t>
            </a:r>
            <a:br/>
            <a:r>
              <a:t>project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3218688"/>
            <a:ext cx="6583680" cy="9144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800" b="0">
                <a:solidFill>
                  <a:srgbClr val="D8E4E9"/>
                </a:solidFill>
                <a:latin typeface="Aptos"/>
              </a:defRPr>
            </a:pPr>
            <a:r>
              <a:t>A compact, evidence-based SDLC plan for closing prototype gaps without presenting planned work as delivered.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5349240"/>
            <a:ext cx="658368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BFD0D8"/>
                </a:solidFill>
                <a:latin typeface="Aptos"/>
              </a:defRPr>
            </a:pPr>
            <a:r>
              <a:t>As of 2026-10-14  |  Current implementation and proposed next steps clearly separated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33104" y="1234440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7F0F3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33104" y="1234440"/>
            <a:ext cx="64008" cy="107899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97696" y="1335024"/>
            <a:ext cx="24231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7696" y="1691640"/>
            <a:ext cx="2414016" cy="5577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Raw trades and daily prices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3104" y="2670048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7F0F3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33104" y="2670048"/>
            <a:ext cx="64008" cy="107899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2770632"/>
            <a:ext cx="24231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SILVER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3127248"/>
            <a:ext cx="2414016" cy="5577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Typed, validated, rejected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4105656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7F0F3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33104" y="4105656"/>
            <a:ext cx="64008" cy="1078992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4206240"/>
            <a:ext cx="24231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GOLD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4562856"/>
            <a:ext cx="2414016" cy="5577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Positions, valuation, P&amp;L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86416" y="2331720"/>
            <a:ext cx="0" cy="265176"/>
          </a:xfrm>
          <a:prstGeom prst="line">
            <a:avLst/>
          </a:prstGeom>
          <a:ln w="25400">
            <a:solidFill>
              <a:srgbClr val="9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186416" y="3767328"/>
            <a:ext cx="0" cy="265176"/>
          </a:xfrm>
          <a:prstGeom prst="line">
            <a:avLst/>
          </a:prstGeom>
          <a:ln w="25400">
            <a:solidFill>
              <a:srgbClr val="9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Project overview | evidence before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01 | DELIVERY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401568" cy="199339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4008" cy="199339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72184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28800"/>
            <a:ext cx="3118104" cy="14721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Reconcile synthetic equity trades and daily prices into positions, valuation, P&amp;L, and visible operational exceptions.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71600"/>
            <a:ext cx="3401568" cy="199339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71600"/>
            <a:ext cx="64008" cy="199339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472184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Already implemented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828800"/>
            <a:ext cx="3118104" cy="14721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Six-task Databricks Workflow; 10 Delta tables; trade/price validation; positions; simplified daily P&amp;L; audit/rejects; notebooks/SQL.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401568" cy="1993392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64008" cy="1993392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472184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Next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28800"/>
            <a:ext cx="3118104" cy="14721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Approved source contracts, trade snapshot semantics, CI/deploy controls, complete rerun evidence, dashboard MVP, and runbook/alerts.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785615"/>
            <a:ext cx="10607040" cy="4389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Dated verification: 2026-10-11 run completed all six tasks; 5,990 position rows and 835 P&amp;L rows reconciled with zero reported calculation mismatches.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80560"/>
            <a:ext cx="10698480" cy="85953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0">
                <a:solidFill>
                  <a:srgbClr val="A94442"/>
                </a:solidFill>
                <a:latin typeface="Aptos"/>
              </a:defRPr>
            </a:pPr>
            <a:r>
              <a:t>Caveat: the same-parameter second run was queued and has no recorded result. The configured schedule is paused and this is a proof of concept, not a production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SDLC approach | decisions flow into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02 | REQUIREMENTS AND TRACEABILITY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1691640" cy="192024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92024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00784"/>
            <a:ext cx="14173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1408176" cy="1399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Stakeholders</a:t>
            </a:r>
            <a:br/>
            <a:r>
              <a:t>Source contracts</a:t>
            </a:r>
            <a:br/>
            <a:r>
              <a:t>Scope and RAID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1600200"/>
            <a:ext cx="1691640" cy="192024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7792" y="1600200"/>
            <a:ext cx="64008" cy="192024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2384" y="1700784"/>
            <a:ext cx="14173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Specify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2057400"/>
            <a:ext cx="1408176" cy="1399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BR / FR / NFR</a:t>
            </a:r>
            <a:br/>
            <a:r>
              <a:t>Data dictionary</a:t>
            </a:r>
            <a:br/>
            <a:r>
              <a:t>Calculation policy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48656" y="1600200"/>
            <a:ext cx="1691640" cy="192024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48656" y="1600200"/>
            <a:ext cx="64008" cy="192024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1700784"/>
            <a:ext cx="14173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057400"/>
            <a:ext cx="1408176" cy="1399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Architecture</a:t>
            </a:r>
            <a:br/>
            <a:r>
              <a:t>DAG / table grains</a:t>
            </a:r>
            <a:br/>
            <a:r>
              <a:t>Security boundary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600200"/>
            <a:ext cx="1691640" cy="192024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1600200"/>
            <a:ext cx="64008" cy="192024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2" y="1700784"/>
            <a:ext cx="14173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Build &amp;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2057400"/>
            <a:ext cx="1408176" cy="1399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Stories / subtasks</a:t>
            </a:r>
            <a:br/>
            <a:r>
              <a:t>Tests / reconciliation</a:t>
            </a:r>
            <a:br/>
            <a:r>
              <a:t>PR + Bundle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30384" y="1600200"/>
            <a:ext cx="1691640" cy="192024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30384" y="1600200"/>
            <a:ext cx="64008" cy="192024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94976" y="1700784"/>
            <a:ext cx="14173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4976" y="2057400"/>
            <a:ext cx="1408176" cy="1399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UAT / readiness</a:t>
            </a:r>
            <a:br/>
            <a:r>
              <a:t>Runbook / monitor</a:t>
            </a:r>
            <a:br/>
            <a:r>
              <a:t>Controlled schedule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286000" y="2560320"/>
            <a:ext cx="530352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626864" y="2560320"/>
            <a:ext cx="530352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67728" y="2560320"/>
            <a:ext cx="530351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08592" y="2560320"/>
            <a:ext cx="530352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2" y="4160520"/>
            <a:ext cx="10789920" cy="8229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0">
                <a:solidFill>
                  <a:srgbClr val="233746"/>
                </a:solidFill>
                <a:latin typeface="Aptos"/>
              </a:defRPr>
            </a:pPr>
            <a:r>
              <a:t>Traceability is maintained from BR-001..008 → FR-001..013 → TMP story IDs → TC test cases → acceptance evidence. Decisions and gaps stay explicit in the workbook RAID and decision log.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193792"/>
            <a:ext cx="1078992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647786"/>
                </a:solidFill>
                <a:latin typeface="Aptos"/>
              </a:defRPr>
            </a:pPr>
            <a:r>
              <a:t>Definition of Ready: owner, input contract, dependencies, AC, estimate, and test evidence agreed. Definition of Done: reviewed code/config, tests passed (skips disclosed), reconciled data, deploy evidence, docs, and operational owner.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Jira structure | implementation status is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03 | BACKLOG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53312"/>
            <a:ext cx="2834640" cy="98755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353312"/>
            <a:ext cx="64008" cy="98755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453896"/>
            <a:ext cx="25603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13 epics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810512"/>
            <a:ext cx="2551176" cy="46634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SDLC stages and engineering capabilities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1353312"/>
            <a:ext cx="2834640" cy="98755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81728" y="1353312"/>
            <a:ext cx="64008" cy="98755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453896"/>
            <a:ext cx="25603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24 stories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10512"/>
            <a:ext cx="2551176" cy="46634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Requirements, design, build, test, operations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50224" y="1353312"/>
            <a:ext cx="2834640" cy="987552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0224" y="1353312"/>
            <a:ext cx="64008" cy="987552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14816" y="1453896"/>
            <a:ext cx="25603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48 subtasks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1810512"/>
            <a:ext cx="2551176" cy="46634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Specific engineering outputs under stories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11880" y="1828800"/>
            <a:ext cx="987552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80375" y="1828800"/>
            <a:ext cx="987553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8096" y="2761488"/>
            <a:ext cx="1033272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Planning IDs are temporary and consistent across workbook, decks, and Jira CSV.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364992"/>
            <a:ext cx="3419856" cy="1325880"/>
          </a:xfrm>
          <a:prstGeom prst="roundRect">
            <a:avLst>
              <a:gd name="adj" fmla="val 8000"/>
            </a:avLst>
          </a:prstGeom>
          <a:solidFill>
            <a:srgbClr val="E1F1EF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3364992"/>
            <a:ext cx="64008" cy="132588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65576"/>
            <a:ext cx="3145536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822191"/>
            <a:ext cx="3136392" cy="8046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Done in current repo/runtime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364992"/>
            <a:ext cx="3419856" cy="1325880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3364992"/>
            <a:ext cx="64008" cy="1325880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3465576"/>
            <a:ext cx="3145536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PARTIAL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3822191"/>
            <a:ext cx="3136392" cy="8046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Code exists; evidence/control gap remains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94192" y="3364992"/>
            <a:ext cx="3419856" cy="1325880"/>
          </a:xfrm>
          <a:prstGeom prst="roundRect">
            <a:avLst>
              <a:gd name="adj" fmla="val 8000"/>
            </a:avLst>
          </a:prstGeom>
          <a:solidFill>
            <a:srgbClr val="F8E8E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94192" y="3364992"/>
            <a:ext cx="64008" cy="1325880"/>
          </a:xfrm>
          <a:prstGeom prst="rect">
            <a:avLst/>
          </a:prstGeom>
          <a:solidFill>
            <a:srgbClr val="A94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58784" y="3465576"/>
            <a:ext cx="3145536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PLANNED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3822191"/>
            <a:ext cx="3136392" cy="8046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Backlog only; not delivered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51663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CSV import mapping: Planning Key should map to a custom field; Issue Type, Summary, Description, Priority, Story Points, and Status to Jira fields; Epic Name/Epic Link/Parent ID to hierarchy fields. Import epics first and resolve temporary Epic Link values to generated Jira keys if required by the Jira edition.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Dependency-driven execution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04 | CRITICAL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1847088" cy="93268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64008" cy="93268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517904"/>
            <a:ext cx="157276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Source + scope</a:t>
            </a:r>
            <a:br/>
            <a:r>
              <a:t>TMP-001/002/006/007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417320"/>
            <a:ext cx="1847088" cy="93268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1488" y="1417320"/>
            <a:ext cx="64008" cy="93268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517904"/>
            <a:ext cx="157276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Data / security</a:t>
            </a:r>
            <a:br/>
            <a:r>
              <a:t>TMP-003/005/008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1417320"/>
            <a:ext cx="1847088" cy="93268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66360" y="1417320"/>
            <a:ext cx="64008" cy="93268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1517904"/>
            <a:ext cx="157276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Controls + history</a:t>
            </a:r>
            <a:br/>
            <a:r>
              <a:t>TMP-010/012/016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417320"/>
            <a:ext cx="1847088" cy="93268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1417320"/>
            <a:ext cx="64008" cy="93268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1517904"/>
            <a:ext cx="157276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Reporting + UAT</a:t>
            </a:r>
            <a:br/>
            <a:r>
              <a:t>TMP-020/022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1417320"/>
            <a:ext cx="1847088" cy="93268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12680" y="1417320"/>
            <a:ext cx="64008" cy="93268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77272" y="1517904"/>
            <a:ext cx="157276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Handover</a:t>
            </a:r>
            <a:br/>
            <a:r>
              <a:t>TMP-024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49424" y="1883664"/>
            <a:ext cx="457200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54296" y="1883664"/>
            <a:ext cx="457200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77456" y="1883664"/>
            <a:ext cx="457200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00616" y="1883664"/>
            <a:ext cx="457200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" y="2999232"/>
            <a:ext cx="4526280" cy="1207008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2999232"/>
            <a:ext cx="64008" cy="120700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3099815"/>
            <a:ext cx="4251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Parallel workstream A | trades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3456432"/>
            <a:ext cx="4242816" cy="6858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Trade contract → Bronze snapshot → Silver versioning → position/P&amp;L correction reconciliation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56832" y="2999232"/>
            <a:ext cx="4526280" cy="120700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56832" y="2999232"/>
            <a:ext cx="64008" cy="120700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1424" y="3099815"/>
            <a:ext cx="4251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Parallel workstream B | prices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21424" y="3456432"/>
            <a:ext cx="4242816" cy="6858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Provider decision → Bronze prices → Silver completeness → position valuation / P&amp;L baseline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681728"/>
            <a:ext cx="10515600" cy="7680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Critical path: business/source decisions → supported integration and rerun evidence → safe deployment controls → dashboard/UAT → handover. Dashboard build can start only after reporting grain, access, and price/trade contracts are agreed.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Proposed two-week sprint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05 | EIGHT-WEEK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5285232" cy="162763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" y="1325880"/>
            <a:ext cx="64008" cy="162763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426464"/>
            <a:ext cx="501091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Sprint 1 | Weeks 1-2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783080"/>
            <a:ext cx="5001768" cy="11064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Lock project scope, requirement acceptance, measurable NFRs, and target access design.</a:t>
            </a:r>
            <a:br/>
            <a:br/>
            <a:r>
              <a:t>TMP-001, TMP-002, TMP-003, TMP-005 | 10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4" y="1325880"/>
            <a:ext cx="5285232" cy="162763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8504" y="1325880"/>
            <a:ext cx="64008" cy="162763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426464"/>
            <a:ext cx="501091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Sprint 2 | Weeks 3-4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1783080"/>
            <a:ext cx="5001768" cy="11064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Resolve market-data decisions, dictionary, price exception handling, and runtime test strategy.</a:t>
            </a:r>
            <a:br/>
            <a:br/>
            <a:r>
              <a:t>TMP-007, TMP-008, TMP-014, TMP-016 | 10 SP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3566160"/>
            <a:ext cx="5285232" cy="162763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" y="3566160"/>
            <a:ext cx="64008" cy="162763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666744"/>
            <a:ext cx="501091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Sprint 3 | Weeks 5-6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023360"/>
            <a:ext cx="5001768" cy="11064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Improve deployment controls and resolve trade snapshot history/correction semantics.</a:t>
            </a:r>
            <a:br/>
            <a:br/>
            <a:r>
              <a:t>TMP-010, TMP-012 | 10 SP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8504" y="3566160"/>
            <a:ext cx="5285232" cy="162763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8504" y="3566160"/>
            <a:ext cx="64008" cy="162763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3666744"/>
            <a:ext cx="501091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Sprint 4 | Weeks 7-8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023360"/>
            <a:ext cx="5001768" cy="110642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Deliver reporting MVP, reconciliation/UAT evidence, and operations handover.</a:t>
            </a:r>
            <a:br/>
            <a:br/>
            <a:r>
              <a:t>TMP-020, TMP-022, TMP-024 | 10 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879592"/>
            <a:ext cx="10607040" cy="3291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1">
                <a:solidFill>
                  <a:srgbClr val="A94442"/>
                </a:solidFill>
                <a:latin typeface="Aptos"/>
              </a:defRPr>
            </a:pPr>
            <a:r>
              <a:t>40 SP / 8 weeks = assumed 10 SP per sprint. No reserve; relative weeks, not approved delivery dates. Use one contingency sprint if source/access decisions slip.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Principal project risks and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06 | RAID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2304288" cy="832104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298448"/>
            <a:ext cx="64008" cy="832104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399032"/>
            <a:ext cx="202996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Provider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755648"/>
            <a:ext cx="2020824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High /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1316736"/>
            <a:ext cx="3794760" cy="7680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Yahoo Finance is current prototype only; data rights and SLA unconfirmed.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316736"/>
            <a:ext cx="4315968" cy="7680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Select approved source; keep production blocked until sign-off.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414015"/>
            <a:ext cx="2304288" cy="832104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2414015"/>
            <a:ext cx="64008" cy="832104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514599"/>
            <a:ext cx="202996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Snapshot semantics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871215"/>
            <a:ext cx="2020824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Medium /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2" y="2432303"/>
            <a:ext cx="3794760" cy="7680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Trade IDs absent from a newer file are not deleted from Silver.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2432303"/>
            <a:ext cx="4315968" cy="7680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Agree cancellation/deletion rule; test two-snapshot reconciliation.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529584"/>
            <a:ext cx="2304288" cy="832104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3529584"/>
            <a:ext cx="64008" cy="832104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630168"/>
            <a:ext cx="202996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Capacity and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986783"/>
            <a:ext cx="2020824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Medium / 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547872"/>
            <a:ext cx="3794760" cy="7680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40 SP baseline has no reserve; part-time owners and runtime access gate 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547872"/>
            <a:ext cx="4315968" cy="7680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Book owners at kickoff; defer polish or add one sprint.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645152"/>
            <a:ext cx="2304288" cy="832104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4645152"/>
            <a:ext cx="64008" cy="832104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745736"/>
            <a:ext cx="202996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Operational readiness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102352"/>
            <a:ext cx="2020824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High / 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2112" y="4663440"/>
            <a:ext cx="3794760" cy="7680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Dev only, paused schedule, no automated alerts or production identity.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9752" y="4663440"/>
            <a:ext cx="4315968" cy="7680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Readiness gate; least privilege, alert test, runbook and sign-off.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Delivery gates and immediate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07 |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89888"/>
            <a:ext cx="3419856" cy="1874519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89888"/>
            <a:ext cx="64008" cy="1874519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90472"/>
            <a:ext cx="3145536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1 | Confirm owners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847088"/>
            <a:ext cx="3136392" cy="1353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Trade source and correction semantics</a:t>
            </a:r>
            <a:br/>
            <a:r>
              <a:t>Market-data rights / provider</a:t>
            </a:r>
            <a:br/>
            <a:r>
              <a:t>Product/reporting audience</a:t>
            </a:r>
            <a:br/>
            <a:r>
              <a:t>Platform identity and test runtime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89888"/>
            <a:ext cx="3419856" cy="1874519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89888"/>
            <a:ext cx="64008" cy="1874519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90472"/>
            <a:ext cx="3145536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2 | Close evidence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847088"/>
            <a:ext cx="3136392" cy="1353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Run same-input Databricks job twice</a:t>
            </a:r>
            <a:br/>
            <a:r>
              <a:t>Execute Spark/Delta integration tests</a:t>
            </a:r>
            <a:br/>
            <a:r>
              <a:t>Capture duration and failure recovery</a:t>
            </a:r>
            <a:br/>
            <a:r>
              <a:t>Approve NFR / retention / recovery targets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89888"/>
            <a:ext cx="3419856" cy="1874519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89888"/>
            <a:ext cx="64008" cy="1874519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490472"/>
            <a:ext cx="3145536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3 | Gate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47088"/>
            <a:ext cx="3136392" cy="1353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Complete dashboard UAT</a:t>
            </a:r>
            <a:br/>
            <a:r>
              <a:t>Review access and alerts</a:t>
            </a:r>
            <a:br/>
            <a:r>
              <a:t>Handover runbook and ownership</a:t>
            </a:r>
            <a:br/>
            <a:r>
              <a:t>Keep schedule paused until readiness sign-off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931920"/>
            <a:ext cx="10607040" cy="47548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Milestones: W2 scope/requirements | W4 source/model | W6 controls/history | W8 UAT/handover.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617720"/>
            <a:ext cx="10607040" cy="10058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0">
                <a:solidFill>
                  <a:srgbClr val="233746"/>
                </a:solidFill>
                <a:latin typeface="Aptos"/>
              </a:defRPr>
            </a:pPr>
            <a:r>
              <a:t>Interview framing: a real prototype already demonstrates the Medallion flow and financial calculation checks. The plan is about controlled completion: approved sources, explicit business semantics, reproducible tests/deployments, user acceptance, and operations. Do not claim production delivery, a dashboard, or a successful rerun that is not evidenced.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Evidence-based Databricks trading platform delivery plan</dc:subject>
  <dc:creator>Project Delivery Planning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