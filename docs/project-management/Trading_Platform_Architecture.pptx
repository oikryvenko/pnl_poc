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324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412480" y="0"/>
            <a:ext cx="3840480" cy="6858000"/>
          </a:xfrm>
          <a:prstGeom prst="rect">
            <a:avLst/>
          </a:prstGeom>
          <a:solidFill>
            <a:srgbClr val="1D4B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713232"/>
            <a:ext cx="91440" cy="5440680"/>
          </a:xfrm>
          <a:prstGeom prst="rect">
            <a:avLst/>
          </a:prstGeom>
          <a:solidFill>
            <a:srgbClr val="007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4128" y="932688"/>
            <a:ext cx="6675120" cy="32004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100" b="1">
                <a:solidFill>
                  <a:srgbClr val="95D8CF"/>
                </a:solidFill>
                <a:latin typeface="Aptos"/>
              </a:defRPr>
            </a:pPr>
            <a:r>
              <a:t>TECHNICAL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600200"/>
            <a:ext cx="7132320" cy="141732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Aptos Display"/>
              </a:defRPr>
            </a:pPr>
            <a:r>
              <a:t>Trading Data &amp;</a:t>
            </a:r>
            <a:br/>
            <a:r>
              <a:t>Daily P&amp;L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1" y="3218688"/>
            <a:ext cx="6583680" cy="91440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800" b="0">
                <a:solidFill>
                  <a:srgbClr val="D8E4E9"/>
                </a:solidFill>
                <a:latin typeface="Aptos"/>
              </a:defRPr>
            </a:pPr>
            <a:r>
              <a:t>Evidence-based current architecture and a controlled path from proof of concept to a supportable prototype.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1" y="5349240"/>
            <a:ext cx="6583680" cy="41148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000" b="0">
                <a:solidFill>
                  <a:srgbClr val="BFD0D8"/>
                </a:solidFill>
                <a:latin typeface="Aptos"/>
              </a:defRPr>
            </a:pPr>
            <a:r>
              <a:t>As of 2026-10-14  |  Current implementation and proposed next steps clearly separated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33104" y="1234440"/>
            <a:ext cx="2697480" cy="1078992"/>
          </a:xfrm>
          <a:prstGeom prst="roundRect">
            <a:avLst>
              <a:gd name="adj" fmla="val 8000"/>
            </a:avLst>
          </a:prstGeom>
          <a:solidFill>
            <a:srgbClr val="E7F0F3"/>
          </a:solidFill>
          <a:ln w="10160">
            <a:solidFill>
              <a:srgbClr val="D7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833104" y="1234440"/>
            <a:ext cx="64008" cy="1078992"/>
          </a:xfrm>
          <a:prstGeom prst="rect">
            <a:avLst/>
          </a:prstGeom>
          <a:solidFill>
            <a:srgbClr val="007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97696" y="1335024"/>
            <a:ext cx="2423160" cy="310896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700" b="1">
                <a:solidFill>
                  <a:srgbClr val="16324F"/>
                </a:solidFill>
                <a:latin typeface="Aptos"/>
              </a:defRPr>
            </a:pPr>
            <a:r>
              <a:t>BRONZE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97696" y="1691640"/>
            <a:ext cx="2414016" cy="557784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200" b="0">
                <a:solidFill>
                  <a:srgbClr val="233746"/>
                </a:solidFill>
                <a:latin typeface="Aptos"/>
              </a:defRPr>
            </a:pPr>
            <a:r>
              <a:t>Raw trades and daily prices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33104" y="2670048"/>
            <a:ext cx="2697480" cy="1078992"/>
          </a:xfrm>
          <a:prstGeom prst="roundRect">
            <a:avLst>
              <a:gd name="adj" fmla="val 8000"/>
            </a:avLst>
          </a:prstGeom>
          <a:solidFill>
            <a:srgbClr val="E7F0F3"/>
          </a:solidFill>
          <a:ln w="10160">
            <a:solidFill>
              <a:srgbClr val="D7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833104" y="2670048"/>
            <a:ext cx="64008" cy="1078992"/>
          </a:xfrm>
          <a:prstGeom prst="rect">
            <a:avLst/>
          </a:prstGeom>
          <a:solidFill>
            <a:srgbClr val="2C6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97696" y="2770632"/>
            <a:ext cx="2423160" cy="310896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700" b="1">
                <a:solidFill>
                  <a:srgbClr val="16324F"/>
                </a:solidFill>
                <a:latin typeface="Aptos"/>
              </a:defRPr>
            </a:pPr>
            <a:r>
              <a:t>SILVER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97696" y="3127248"/>
            <a:ext cx="2414016" cy="557784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200" b="0">
                <a:solidFill>
                  <a:srgbClr val="233746"/>
                </a:solidFill>
                <a:latin typeface="Aptos"/>
              </a:defRPr>
            </a:pPr>
            <a:r>
              <a:t>Typed, validated, rejected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33104" y="4105656"/>
            <a:ext cx="2697480" cy="1078992"/>
          </a:xfrm>
          <a:prstGeom prst="roundRect">
            <a:avLst>
              <a:gd name="adj" fmla="val 8000"/>
            </a:avLst>
          </a:prstGeom>
          <a:solidFill>
            <a:srgbClr val="E7F0F3"/>
          </a:solidFill>
          <a:ln w="10160">
            <a:solidFill>
              <a:srgbClr val="D7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833104" y="4105656"/>
            <a:ext cx="64008" cy="1078992"/>
          </a:xfrm>
          <a:prstGeom prst="rect">
            <a:avLst/>
          </a:prstGeom>
          <a:solidFill>
            <a:srgbClr val="C875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97696" y="4206240"/>
            <a:ext cx="2423160" cy="310896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700" b="1">
                <a:solidFill>
                  <a:srgbClr val="16324F"/>
                </a:solidFill>
                <a:latin typeface="Aptos"/>
              </a:defRPr>
            </a:pPr>
            <a:r>
              <a:t>GOLD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97696" y="4562856"/>
            <a:ext cx="2414016" cy="557784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200" b="0">
                <a:solidFill>
                  <a:srgbClr val="233746"/>
                </a:solidFill>
                <a:latin typeface="Aptos"/>
              </a:defRPr>
            </a:pPr>
            <a:r>
              <a:t>Positions, valuation, P&amp;L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0186416" y="2331720"/>
            <a:ext cx="0" cy="265176"/>
          </a:xfrm>
          <a:prstGeom prst="line">
            <a:avLst/>
          </a:prstGeom>
          <a:ln w="25400">
            <a:solidFill>
              <a:srgbClr val="95D8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0186416" y="3767328"/>
            <a:ext cx="0" cy="265176"/>
          </a:xfrm>
          <a:prstGeom prst="line">
            <a:avLst/>
          </a:prstGeom>
          <a:ln w="25400">
            <a:solidFill>
              <a:srgbClr val="95D8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83464"/>
            <a:ext cx="10789920" cy="50292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2500" b="1">
                <a:solidFill>
                  <a:srgbClr val="16324F"/>
                </a:solidFill>
                <a:latin typeface="Aptos Display"/>
              </a:defRPr>
            </a:pPr>
            <a:r>
              <a:t>Business context and supported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0972800" cy="256032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900" b="1">
                <a:solidFill>
                  <a:srgbClr val="007C78"/>
                </a:solidFill>
                <a:latin typeface="Aptos"/>
              </a:defRPr>
            </a:pPr>
            <a:r>
              <a:t>01 | CONTEXT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10528"/>
            <a:ext cx="11173968" cy="10972"/>
          </a:xfrm>
          <a:prstGeom prst="rect">
            <a:avLst/>
          </a:prstGeom>
          <a:solidFill>
            <a:srgbClr val="D7E0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56248"/>
            <a:ext cx="9601200" cy="164592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800" b="0">
                <a:solidFill>
                  <a:srgbClr val="647786"/>
                </a:solidFill>
                <a:latin typeface="Aptos"/>
              </a:defRPr>
            </a:pPr>
            <a:r>
              <a:t>TRADING PLATFORM  |  EVIDENCE BASELINE 2026-10-14  |  PROPOSED DELIVERY PLAN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537960"/>
            <a:ext cx="502920" cy="18288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r">
              <a:defRPr sz="900" b="1">
                <a:solidFill>
                  <a:srgbClr val="647786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325880"/>
            <a:ext cx="3429000" cy="1901952"/>
          </a:xfrm>
          <a:prstGeom prst="roundRect">
            <a:avLst>
              <a:gd name="adj" fmla="val 8000"/>
            </a:avLst>
          </a:prstGeom>
          <a:solidFill>
            <a:srgbClr val="EFF4F6"/>
          </a:solidFill>
          <a:ln w="10160">
            <a:solidFill>
              <a:srgbClr val="D7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1325880"/>
            <a:ext cx="64008" cy="1901952"/>
          </a:xfrm>
          <a:prstGeom prst="rect">
            <a:avLst/>
          </a:prstGeom>
          <a:solidFill>
            <a:srgbClr val="007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1426464"/>
            <a:ext cx="3154680" cy="310896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700" b="1">
                <a:solidFill>
                  <a:srgbClr val="16324F"/>
                </a:solidFill>
                <a:latin typeface="Aptos"/>
              </a:defRPr>
            </a:pPr>
            <a:r>
              <a:t>Business outcome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1783080"/>
            <a:ext cx="3145536" cy="1380744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300" b="0">
                <a:solidFill>
                  <a:srgbClr val="233746"/>
                </a:solidFill>
                <a:latin typeface="Aptos"/>
              </a:defRPr>
            </a:pPr>
            <a:r>
              <a:t>Turn synthetic trade snapshots and daily equity closes into validated trade history, daily positions, valuation, and a transparent P&amp;L result.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325880"/>
            <a:ext cx="3429000" cy="1901952"/>
          </a:xfrm>
          <a:prstGeom prst="roundRect">
            <a:avLst>
              <a:gd name="adj" fmla="val 8000"/>
            </a:avLst>
          </a:prstGeom>
          <a:solidFill>
            <a:srgbClr val="EAF3F1"/>
          </a:solidFill>
          <a:ln w="10160">
            <a:solidFill>
              <a:srgbClr val="D7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1325880"/>
            <a:ext cx="64008" cy="1901952"/>
          </a:xfrm>
          <a:prstGeom prst="rect">
            <a:avLst/>
          </a:prstGeom>
          <a:solidFill>
            <a:srgbClr val="2C6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07992" y="1426464"/>
            <a:ext cx="3154680" cy="310896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700" b="1">
                <a:solidFill>
                  <a:srgbClr val="16324F"/>
                </a:solidFill>
                <a:latin typeface="Aptos"/>
              </a:defRPr>
            </a:pPr>
            <a:r>
              <a:t>Verified prototype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07992" y="1783080"/>
            <a:ext cx="3145536" cy="1380744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300" b="0">
                <a:solidFill>
                  <a:srgbClr val="233746"/>
                </a:solidFill>
                <a:latin typeface="Aptos"/>
              </a:defRPr>
            </a:pPr>
            <a:r>
              <a:t>USD cash equities; 10 configured instruments; three UC schemas; six-task Databricks Job; audit, rejects, breaks, notebooks, and SQL.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1325880"/>
            <a:ext cx="3429000" cy="1901952"/>
          </a:xfrm>
          <a:prstGeom prst="roundRect">
            <a:avLst>
              <a:gd name="adj" fmla="val 8000"/>
            </a:avLst>
          </a:prstGeom>
          <a:solidFill>
            <a:srgbClr val="FAF0E5"/>
          </a:solidFill>
          <a:ln w="10160">
            <a:solidFill>
              <a:srgbClr val="D7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92440" y="1325880"/>
            <a:ext cx="64008" cy="1901952"/>
          </a:xfrm>
          <a:prstGeom prst="rect">
            <a:avLst/>
          </a:prstGeom>
          <a:solidFill>
            <a:srgbClr val="C875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57031" y="1426464"/>
            <a:ext cx="3154680" cy="310896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700" b="1">
                <a:solidFill>
                  <a:srgbClr val="16324F"/>
                </a:solidFill>
                <a:latin typeface="Aptos"/>
              </a:defRPr>
            </a:pPr>
            <a:r>
              <a:t>Not production-ready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57031" y="1783080"/>
            <a:ext cx="3145536" cy="1380744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300" b="0">
                <a:solidFill>
                  <a:srgbClr val="233746"/>
                </a:solidFill>
                <a:latin typeface="Aptos"/>
              </a:defRPr>
            </a:pPr>
            <a:r>
              <a:t>Yahoo Finance approval, real trade source, production identity/environment, monitoring alerts, retention policy, and deployed dashboard are not evidenced.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" y="3685032"/>
            <a:ext cx="10789920" cy="50292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700" b="1">
                <a:solidFill>
                  <a:srgbClr val="16324F"/>
                </a:solidFill>
                <a:latin typeface="Aptos"/>
              </a:defRPr>
            </a:pPr>
            <a:r>
              <a:t>Initial calculation boundary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187952"/>
            <a:ext cx="10698480" cy="114300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600" b="0">
                <a:solidFill>
                  <a:srgbClr val="233746"/>
                </a:solidFill>
                <a:latin typeface="Aptos"/>
              </a:defRPr>
            </a:pPr>
            <a:r>
              <a:t>Simple cash equities in USD. No fees, settlement cash, FX, dividends, corporate actions, financing, borrow costs, or derivatives. A cumulative field called unrealized_pnl_proxy is explicitly not true unrealized P&amp;L.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715000"/>
            <a:ext cx="10607040" cy="384048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200" b="1">
                <a:solidFill>
                  <a:srgbClr val="A94442"/>
                </a:solidFill>
                <a:latin typeface="Aptos"/>
              </a:defRPr>
            </a:pPr>
            <a:r>
              <a:t>Decision gate: business and market-data owners must approve source, price definition, and calculation boundaries before production claims.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83464"/>
            <a:ext cx="10789920" cy="50292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2500" b="1">
                <a:solidFill>
                  <a:srgbClr val="16324F"/>
                </a:solidFill>
                <a:latin typeface="Aptos Display"/>
              </a:defRPr>
            </a:pPr>
            <a:r>
              <a:t>Data sources and ingress contracts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0972800" cy="256032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900" b="1">
                <a:solidFill>
                  <a:srgbClr val="007C78"/>
                </a:solidFill>
                <a:latin typeface="Aptos"/>
              </a:defRPr>
            </a:pPr>
            <a:r>
              <a:t>02 | SOURCE SYSTEMS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10528"/>
            <a:ext cx="11173968" cy="10972"/>
          </a:xfrm>
          <a:prstGeom prst="rect">
            <a:avLst/>
          </a:prstGeom>
          <a:solidFill>
            <a:srgbClr val="D7E0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56248"/>
            <a:ext cx="9601200" cy="164592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800" b="0">
                <a:solidFill>
                  <a:srgbClr val="647786"/>
                </a:solidFill>
                <a:latin typeface="Aptos"/>
              </a:defRPr>
            </a:pPr>
            <a:r>
              <a:t>TRADING PLATFORM  |  EVIDENCE BASELINE 2026-10-14  |  PROPOSED DELIVERY PLAN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537960"/>
            <a:ext cx="502920" cy="18288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r">
              <a:defRPr sz="900" b="1">
                <a:solidFill>
                  <a:srgbClr val="647786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371600"/>
            <a:ext cx="3429000" cy="3337560"/>
          </a:xfrm>
          <a:prstGeom prst="roundRect">
            <a:avLst>
              <a:gd name="adj" fmla="val 8000"/>
            </a:avLst>
          </a:prstGeom>
          <a:solidFill>
            <a:srgbClr val="EFF4F6"/>
          </a:solidFill>
          <a:ln w="10160">
            <a:solidFill>
              <a:srgbClr val="D7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1371600"/>
            <a:ext cx="64008" cy="3337560"/>
          </a:xfrm>
          <a:prstGeom prst="rect">
            <a:avLst/>
          </a:prstGeom>
          <a:solidFill>
            <a:srgbClr val="007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1472184"/>
            <a:ext cx="3154680" cy="310896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700" b="1">
                <a:solidFill>
                  <a:srgbClr val="16324F"/>
                </a:solidFill>
                <a:latin typeface="Aptos"/>
              </a:defRPr>
            </a:pPr>
            <a:r>
              <a:t>Trades | synthetic CSV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1828800"/>
            <a:ext cx="3145536" cy="2816352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300" b="0">
                <a:solidFill>
                  <a:srgbClr val="233746"/>
                </a:solidFill>
                <a:latin typeface="Aptos"/>
              </a:defRPr>
            </a:pPr>
            <a:r>
              <a:t>scripts/generate_trades.py</a:t>
            </a:r>
            <a:br/>
            <a:r>
              <a:t>14 source columns</a:t>
            </a:r>
            <a:br/>
            <a:r>
              <a:t>1,200-row checked-in sample</a:t>
            </a:r>
            <a:br/>
            <a:r>
              <a:t>Local CSV → UC Volume</a:t>
            </a:r>
            <a:br/>
            <a:r>
              <a:t>Full snapshot; Bronze overwrite</a:t>
            </a:r>
            <a:br/>
            <a:r>
              <a:t>Version selected in Silver</a:t>
            </a:r>
            <a:br/>
            <a:br/>
            <a:r>
              <a:t>Real trade-system connector: not implemented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70832" y="1371600"/>
            <a:ext cx="3429000" cy="3337560"/>
          </a:xfrm>
          <a:prstGeom prst="roundRect">
            <a:avLst>
              <a:gd name="adj" fmla="val 8000"/>
            </a:avLst>
          </a:prstGeom>
          <a:solidFill>
            <a:srgbClr val="EAF3F1"/>
          </a:solidFill>
          <a:ln w="10160">
            <a:solidFill>
              <a:srgbClr val="D7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70832" y="1371600"/>
            <a:ext cx="64008" cy="3337560"/>
          </a:xfrm>
          <a:prstGeom prst="rect">
            <a:avLst/>
          </a:prstGeom>
          <a:solidFill>
            <a:srgbClr val="2C6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35424" y="1472184"/>
            <a:ext cx="3154680" cy="310896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700" b="1">
                <a:solidFill>
                  <a:srgbClr val="16324F"/>
                </a:solidFill>
                <a:latin typeface="Aptos"/>
              </a:defRPr>
            </a:pPr>
            <a:r>
              <a:t>Prices | Yahoo Finance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35424" y="1828800"/>
            <a:ext cx="3145536" cy="2816352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300" b="0">
                <a:solidFill>
                  <a:srgbClr val="233746"/>
                </a:solidFill>
                <a:latin typeface="Aptos"/>
              </a:defRPr>
            </a:pPr>
            <a:r>
              <a:t>yfinance.download</a:t>
            </a:r>
            <a:br/>
            <a:r>
              <a:t>Daily unadjusted Close</a:t>
            </a:r>
            <a:br/>
            <a:r>
              <a:t>10 configured tickers; USD</a:t>
            </a:r>
            <a:br/>
            <a:r>
              <a:t>Seven-day default lookback</a:t>
            </a:r>
            <a:br/>
            <a:r>
              <a:t>Retry transient failures</a:t>
            </a:r>
            <a:br/>
            <a:r>
              <a:t>Missing expected session fails processing</a:t>
            </a:r>
            <a:br/>
            <a:br/>
            <a:r>
              <a:t>Provider rights/production approval: unconfirmed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1371600"/>
            <a:ext cx="3429000" cy="3337560"/>
          </a:xfrm>
          <a:prstGeom prst="roundRect">
            <a:avLst>
              <a:gd name="adj" fmla="val 8000"/>
            </a:avLst>
          </a:prstGeom>
          <a:solidFill>
            <a:srgbClr val="FAF0E5"/>
          </a:solidFill>
          <a:ln w="10160">
            <a:solidFill>
              <a:srgbClr val="D7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38160" y="1371600"/>
            <a:ext cx="64008" cy="3337560"/>
          </a:xfrm>
          <a:prstGeom prst="rect">
            <a:avLst/>
          </a:prstGeom>
          <a:solidFill>
            <a:srgbClr val="C875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02752" y="1472184"/>
            <a:ext cx="3154680" cy="310896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700" b="1">
                <a:solidFill>
                  <a:srgbClr val="16324F"/>
                </a:solidFill>
                <a:latin typeface="Aptos"/>
              </a:defRPr>
            </a:pPr>
            <a:r>
              <a:t>Reference | in code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2752" y="1828800"/>
            <a:ext cx="3145536" cy="2816352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300" b="0">
                <a:solidFill>
                  <a:srgbClr val="233746"/>
                </a:solidFill>
                <a:latin typeface="Aptos"/>
              </a:defRPr>
            </a:pPr>
            <a:r>
              <a:t>10 instrument_id → symbol mappings</a:t>
            </a:r>
            <a:br/>
            <a:r>
              <a:t>Book and counterparty are input strings</a:t>
            </a:r>
            <a:br/>
            <a:r>
              <a:t>No persisted reference tables</a:t>
            </a:r>
            <a:br/>
            <a:r>
              <a:t>No effective-dated mapping history</a:t>
            </a:r>
            <a:br/>
            <a:br/>
            <a:r>
              <a:t>Owner, cardinality, and reference validation: to be confirmed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074920"/>
            <a:ext cx="10698480" cy="786384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400" b="0">
                <a:solidFill>
                  <a:srgbClr val="233746"/>
                </a:solidFill>
                <a:latin typeface="Aptos"/>
              </a:defRPr>
            </a:pPr>
            <a:r>
              <a:t>Source contract gaps: production owner, delivery cutoff/completeness marker, volume/SLA, corrections/cancellations, data rights, retention, and missing-price escalation. Synthetic fixtures are for deterministic tests, not a substitute for an approved source.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83464"/>
            <a:ext cx="10789920" cy="50292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2500" b="1">
                <a:solidFill>
                  <a:srgbClr val="16324F"/>
                </a:solidFill>
                <a:latin typeface="Aptos Display"/>
              </a:defRPr>
            </a:pPr>
            <a:r>
              <a:t>High-level solution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0972800" cy="256032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900" b="1">
                <a:solidFill>
                  <a:srgbClr val="007C78"/>
                </a:solidFill>
                <a:latin typeface="Aptos"/>
              </a:defRPr>
            </a:pPr>
            <a:r>
              <a:t>03 | COMPONENTS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10528"/>
            <a:ext cx="11173968" cy="10972"/>
          </a:xfrm>
          <a:prstGeom prst="rect">
            <a:avLst/>
          </a:prstGeom>
          <a:solidFill>
            <a:srgbClr val="D7E0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56248"/>
            <a:ext cx="9601200" cy="164592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800" b="0">
                <a:solidFill>
                  <a:srgbClr val="647786"/>
                </a:solidFill>
                <a:latin typeface="Aptos"/>
              </a:defRPr>
            </a:pPr>
            <a:r>
              <a:t>TRADING PLATFORM  |  EVIDENCE BASELINE 2026-10-14  |  PROPOSED DELIVERY PLAN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537960"/>
            <a:ext cx="502920" cy="18288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r">
              <a:defRPr sz="900" b="1">
                <a:solidFill>
                  <a:srgbClr val="647786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481328"/>
            <a:ext cx="1874519" cy="1115568"/>
          </a:xfrm>
          <a:prstGeom prst="roundRect">
            <a:avLst>
              <a:gd name="adj" fmla="val 8000"/>
            </a:avLst>
          </a:prstGeom>
          <a:solidFill>
            <a:srgbClr val="EFF4F6"/>
          </a:solidFill>
          <a:ln w="10160">
            <a:solidFill>
              <a:srgbClr val="D7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481328"/>
            <a:ext cx="64008" cy="1115568"/>
          </a:xfrm>
          <a:prstGeom prst="rect">
            <a:avLst/>
          </a:prstGeom>
          <a:solidFill>
            <a:srgbClr val="007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" y="1581912"/>
            <a:ext cx="1600199" cy="310896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500" b="1">
                <a:solidFill>
                  <a:srgbClr val="16324F"/>
                </a:solidFill>
                <a:latin typeface="Aptos"/>
              </a:defRPr>
            </a:pPr>
            <a:r>
              <a:t>Sources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1938528"/>
            <a:ext cx="1591055" cy="59436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100" b="0">
                <a:solidFill>
                  <a:srgbClr val="233746"/>
                </a:solidFill>
                <a:latin typeface="Aptos"/>
              </a:defRPr>
            </a:pPr>
            <a:r>
              <a:t>CSV + yfinance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61488" y="1234440"/>
            <a:ext cx="2212848" cy="932688"/>
          </a:xfrm>
          <a:prstGeom prst="roundRect">
            <a:avLst>
              <a:gd name="adj" fmla="val 8000"/>
            </a:avLst>
          </a:prstGeom>
          <a:solidFill>
            <a:srgbClr val="EAF3F1"/>
          </a:solidFill>
          <a:ln w="10160">
            <a:solidFill>
              <a:srgbClr val="D7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61488" y="1234440"/>
            <a:ext cx="64008" cy="932688"/>
          </a:xfrm>
          <a:prstGeom prst="rect">
            <a:avLst/>
          </a:prstGeom>
          <a:solidFill>
            <a:srgbClr val="007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26080" y="1335024"/>
            <a:ext cx="1938528" cy="310896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400" b="1">
                <a:solidFill>
                  <a:srgbClr val="16324F"/>
                </a:solidFill>
                <a:latin typeface="Aptos"/>
              </a:defRPr>
            </a:pPr>
            <a:r>
              <a:t>Bronze | Delta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1691640"/>
            <a:ext cx="1929384" cy="41148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000" b="0">
                <a:solidFill>
                  <a:srgbClr val="233746"/>
                </a:solidFill>
                <a:latin typeface="Aptos"/>
              </a:defRPr>
            </a:pPr>
            <a:r>
              <a:t>raw trades / raw closes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61488" y="2468880"/>
            <a:ext cx="2212848" cy="932688"/>
          </a:xfrm>
          <a:prstGeom prst="roundRect">
            <a:avLst>
              <a:gd name="adj" fmla="val 8000"/>
            </a:avLst>
          </a:prstGeom>
          <a:solidFill>
            <a:srgbClr val="EAF3F1"/>
          </a:solidFill>
          <a:ln w="10160">
            <a:solidFill>
              <a:srgbClr val="D7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761488" y="2468880"/>
            <a:ext cx="64008" cy="932688"/>
          </a:xfrm>
          <a:prstGeom prst="rect">
            <a:avLst/>
          </a:prstGeom>
          <a:solidFill>
            <a:srgbClr val="2C6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26080" y="2569464"/>
            <a:ext cx="1938528" cy="310896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400" b="1">
                <a:solidFill>
                  <a:srgbClr val="16324F"/>
                </a:solidFill>
                <a:latin typeface="Aptos"/>
              </a:defRPr>
            </a:pPr>
            <a:r>
              <a:t>Silver | Delta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26080" y="2926080"/>
            <a:ext cx="1929384" cy="41148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000" b="0">
                <a:solidFill>
                  <a:srgbClr val="233746"/>
                </a:solidFill>
                <a:latin typeface="Aptos"/>
              </a:defRPr>
            </a:pPr>
            <a:r>
              <a:t>typed + rejects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596128" y="1234440"/>
            <a:ext cx="2240280" cy="932688"/>
          </a:xfrm>
          <a:prstGeom prst="roundRect">
            <a:avLst>
              <a:gd name="adj" fmla="val 8000"/>
            </a:avLst>
          </a:prstGeom>
          <a:solidFill>
            <a:srgbClr val="FAF0E5"/>
          </a:solidFill>
          <a:ln w="10160">
            <a:solidFill>
              <a:srgbClr val="D7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596128" y="1234440"/>
            <a:ext cx="64008" cy="932688"/>
          </a:xfrm>
          <a:prstGeom prst="rect">
            <a:avLst/>
          </a:prstGeom>
          <a:solidFill>
            <a:srgbClr val="C875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0720" y="1335024"/>
            <a:ext cx="1965960" cy="310896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400" b="1">
                <a:solidFill>
                  <a:srgbClr val="16324F"/>
                </a:solidFill>
                <a:latin typeface="Aptos"/>
              </a:defRPr>
            </a:pPr>
            <a:r>
              <a:t>Gold | Delta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60720" y="1691640"/>
            <a:ext cx="1956816" cy="41148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000" b="0">
                <a:solidFill>
                  <a:srgbClr val="233746"/>
                </a:solidFill>
                <a:latin typeface="Aptos"/>
              </a:defRPr>
            </a:pPr>
            <a:r>
              <a:t>positions + valuation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596128" y="2468880"/>
            <a:ext cx="2240280" cy="932688"/>
          </a:xfrm>
          <a:prstGeom prst="roundRect">
            <a:avLst>
              <a:gd name="adj" fmla="val 8000"/>
            </a:avLst>
          </a:prstGeom>
          <a:solidFill>
            <a:srgbClr val="FAF0E5"/>
          </a:solidFill>
          <a:ln w="10160">
            <a:solidFill>
              <a:srgbClr val="D7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596128" y="2468880"/>
            <a:ext cx="64008" cy="932688"/>
          </a:xfrm>
          <a:prstGeom prst="rect">
            <a:avLst/>
          </a:prstGeom>
          <a:solidFill>
            <a:srgbClr val="C875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760720" y="2569464"/>
            <a:ext cx="1965960" cy="310896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400" b="1">
                <a:solidFill>
                  <a:srgbClr val="16324F"/>
                </a:solidFill>
                <a:latin typeface="Aptos"/>
              </a:defRPr>
            </a:pPr>
            <a:r>
              <a:t>Gold | Delta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760720" y="2926080"/>
            <a:ext cx="1956816" cy="41148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000" b="0">
                <a:solidFill>
                  <a:srgbClr val="233746"/>
                </a:solidFill>
                <a:latin typeface="Aptos"/>
              </a:defRPr>
            </a:pPr>
            <a:r>
              <a:t>daily P&amp;L + breaks + audit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485632" y="1481328"/>
            <a:ext cx="3017520" cy="1115568"/>
          </a:xfrm>
          <a:prstGeom prst="roundRect">
            <a:avLst>
              <a:gd name="adj" fmla="val 8000"/>
            </a:avLst>
          </a:prstGeom>
          <a:solidFill>
            <a:srgbClr val="EFF4F6"/>
          </a:solidFill>
          <a:ln w="10160">
            <a:solidFill>
              <a:srgbClr val="D7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485632" y="1481328"/>
            <a:ext cx="64008" cy="1115568"/>
          </a:xfrm>
          <a:prstGeom prst="rect">
            <a:avLst/>
          </a:prstGeom>
          <a:solidFill>
            <a:srgbClr val="2C6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50224" y="1581912"/>
            <a:ext cx="2743200" cy="310896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500" b="1">
                <a:solidFill>
                  <a:srgbClr val="16324F"/>
                </a:solidFill>
                <a:latin typeface="Aptos"/>
              </a:defRPr>
            </a:pPr>
            <a:r>
              <a:t>Reporting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50224" y="1938528"/>
            <a:ext cx="2734056" cy="59436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100" b="0">
                <a:solidFill>
                  <a:srgbClr val="233746"/>
                </a:solidFill>
                <a:latin typeface="Aptos"/>
              </a:defRPr>
            </a:pPr>
            <a:r>
              <a:t>read-only notebook + SQL</a:t>
            </a:r>
            <a:br/>
            <a:r>
              <a:t>dashboard proposed</a:t>
            </a:r>
          </a:p>
        </p:txBody>
      </p:sp>
      <p:cxnSp>
        <p:nvCxnSpPr>
          <p:cNvPr id="32" name="Connector 31"/>
          <p:cNvCxnSpPr/>
          <p:nvPr/>
        </p:nvCxnSpPr>
        <p:spPr>
          <a:xfrm flipV="1">
            <a:off x="2395728" y="1691640"/>
            <a:ext cx="329184" cy="155448"/>
          </a:xfrm>
          <a:prstGeom prst="line">
            <a:avLst/>
          </a:prstGeom>
          <a:ln w="25400">
            <a:solidFill>
              <a:srgbClr val="007C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3867912" y="2194560"/>
            <a:ext cx="0" cy="246888"/>
          </a:xfrm>
          <a:prstGeom prst="line">
            <a:avLst/>
          </a:prstGeom>
          <a:ln w="25400">
            <a:solidFill>
              <a:srgbClr val="007C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5010912" y="1865376"/>
            <a:ext cx="548640" cy="1051560"/>
          </a:xfrm>
          <a:prstGeom prst="line">
            <a:avLst/>
          </a:prstGeom>
          <a:ln w="25400">
            <a:solidFill>
              <a:srgbClr val="007C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6729984" y="2194560"/>
            <a:ext cx="0" cy="246888"/>
          </a:xfrm>
          <a:prstGeom prst="line">
            <a:avLst/>
          </a:prstGeom>
          <a:ln w="25400">
            <a:solidFill>
              <a:srgbClr val="007C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7882127" y="2029968"/>
            <a:ext cx="566929" cy="877824"/>
          </a:xfrm>
          <a:prstGeom prst="line">
            <a:avLst/>
          </a:prstGeom>
          <a:ln w="25400">
            <a:solidFill>
              <a:srgbClr val="007C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749808" y="4160520"/>
            <a:ext cx="3246120" cy="1097280"/>
          </a:xfrm>
          <a:prstGeom prst="roundRect">
            <a:avLst>
              <a:gd name="adj" fmla="val 8000"/>
            </a:avLst>
          </a:prstGeom>
          <a:solidFill>
            <a:srgbClr val="F3F6F7"/>
          </a:solidFill>
          <a:ln w="10160">
            <a:solidFill>
              <a:srgbClr val="D7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49808" y="4160520"/>
            <a:ext cx="64008" cy="1097280"/>
          </a:xfrm>
          <a:prstGeom prst="rect">
            <a:avLst/>
          </a:prstGeom>
          <a:solidFill>
            <a:srgbClr val="2C6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4400" y="4261104"/>
            <a:ext cx="2971800" cy="310896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400" b="1">
                <a:solidFill>
                  <a:srgbClr val="16324F"/>
                </a:solidFill>
                <a:latin typeface="Aptos"/>
              </a:defRPr>
            </a:pPr>
            <a:r>
              <a:t>Compute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" y="4617720"/>
            <a:ext cx="2962656" cy="576072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100" b="0">
                <a:solidFill>
                  <a:srgbClr val="233746"/>
                </a:solidFill>
                <a:latin typeface="Aptos"/>
              </a:defRPr>
            </a:pPr>
            <a:r>
              <a:t>PySpark package: trade_pipeline wheel; six entry points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462272" y="4160520"/>
            <a:ext cx="3246120" cy="1097280"/>
          </a:xfrm>
          <a:prstGeom prst="roundRect">
            <a:avLst>
              <a:gd name="adj" fmla="val 8000"/>
            </a:avLst>
          </a:prstGeom>
          <a:solidFill>
            <a:srgbClr val="F3F6F7"/>
          </a:solidFill>
          <a:ln w="10160">
            <a:solidFill>
              <a:srgbClr val="D7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462272" y="4160520"/>
            <a:ext cx="64008" cy="1097280"/>
          </a:xfrm>
          <a:prstGeom prst="rect">
            <a:avLst/>
          </a:prstGeom>
          <a:solidFill>
            <a:srgbClr val="007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626864" y="4261104"/>
            <a:ext cx="2971800" cy="310896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400" b="1">
                <a:solidFill>
                  <a:srgbClr val="16324F"/>
                </a:solidFill>
                <a:latin typeface="Aptos"/>
              </a:defRPr>
            </a:pPr>
            <a:r>
              <a:t>Governance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626864" y="4617720"/>
            <a:ext cx="2962656" cy="576072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100" b="0">
                <a:solidFill>
                  <a:srgbClr val="233746"/>
                </a:solidFill>
                <a:latin typeface="Aptos"/>
              </a:defRPr>
            </a:pPr>
            <a:r>
              <a:t>Unity Catalog cibc; bronze / silver / gold; UC Volume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156448" y="4160520"/>
            <a:ext cx="3246120" cy="1097280"/>
          </a:xfrm>
          <a:prstGeom prst="roundRect">
            <a:avLst>
              <a:gd name="adj" fmla="val 8000"/>
            </a:avLst>
          </a:prstGeom>
          <a:solidFill>
            <a:srgbClr val="F3F6F7"/>
          </a:solidFill>
          <a:ln w="10160">
            <a:solidFill>
              <a:srgbClr val="D7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156448" y="4160520"/>
            <a:ext cx="64008" cy="1097280"/>
          </a:xfrm>
          <a:prstGeom prst="rect">
            <a:avLst/>
          </a:prstGeom>
          <a:solidFill>
            <a:srgbClr val="C875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321040" y="4261104"/>
            <a:ext cx="2971800" cy="310896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400" b="1">
                <a:solidFill>
                  <a:srgbClr val="16324F"/>
                </a:solidFill>
                <a:latin typeface="Aptos"/>
              </a:defRPr>
            </a:pPr>
            <a:r>
              <a:t>Control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21040" y="4617720"/>
            <a:ext cx="2962656" cy="576072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100" b="0">
                <a:solidFill>
                  <a:srgbClr val="233746"/>
                </a:solidFill>
                <a:latin typeface="Aptos"/>
              </a:defRPr>
            </a:pPr>
            <a:r>
              <a:t>Databricks Workflows; audit; rejects; run-level breaks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49808" y="5577840"/>
            <a:ext cx="10515600" cy="438912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200" b="0">
                <a:solidFill>
                  <a:srgbClr val="647786"/>
                </a:solidFill>
                <a:latin typeface="Aptos"/>
              </a:defRPr>
            </a:pPr>
            <a:r>
              <a:t>Current physical data model has 10 Delta tables. No separate reporting schema, dashboard dataset, or persisted reference schema is present.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83464"/>
            <a:ext cx="10789920" cy="50292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2500" b="1">
                <a:solidFill>
                  <a:srgbClr val="16324F"/>
                </a:solidFill>
                <a:latin typeface="Aptos Display"/>
              </a:defRPr>
            </a:pPr>
            <a:r>
              <a:t>End-to-end flow and workflow dependencies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0972800" cy="256032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900" b="1">
                <a:solidFill>
                  <a:srgbClr val="007C78"/>
                </a:solidFill>
                <a:latin typeface="Aptos"/>
              </a:defRPr>
            </a:pPr>
            <a:r>
              <a:t>04 | ORCHESTRATION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10528"/>
            <a:ext cx="11173968" cy="10972"/>
          </a:xfrm>
          <a:prstGeom prst="rect">
            <a:avLst/>
          </a:prstGeom>
          <a:solidFill>
            <a:srgbClr val="D7E0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56248"/>
            <a:ext cx="9601200" cy="164592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800" b="0">
                <a:solidFill>
                  <a:srgbClr val="647786"/>
                </a:solidFill>
                <a:latin typeface="Aptos"/>
              </a:defRPr>
            </a:pPr>
            <a:r>
              <a:t>TRADING PLATFORM  |  EVIDENCE BASELINE 2026-10-14  |  PROPOSED DELIVERY PLAN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537960"/>
            <a:ext cx="502920" cy="18288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r">
              <a:defRPr sz="900" b="1">
                <a:solidFill>
                  <a:srgbClr val="647786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600200"/>
            <a:ext cx="2148840" cy="841248"/>
          </a:xfrm>
          <a:prstGeom prst="roundRect">
            <a:avLst>
              <a:gd name="adj" fmla="val 8000"/>
            </a:avLst>
          </a:prstGeom>
          <a:solidFill>
            <a:srgbClr val="EFF4F6"/>
          </a:solidFill>
          <a:ln w="10160">
            <a:solidFill>
              <a:srgbClr val="D7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600200"/>
            <a:ext cx="64008" cy="841248"/>
          </a:xfrm>
          <a:prstGeom prst="rect">
            <a:avLst/>
          </a:prstGeom>
          <a:solidFill>
            <a:srgbClr val="007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" y="1700784"/>
            <a:ext cx="1874520" cy="310896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300" b="1">
                <a:solidFill>
                  <a:srgbClr val="16324F"/>
                </a:solidFill>
                <a:latin typeface="Aptos"/>
              </a:defRPr>
            </a:pPr>
            <a:r>
              <a:t>ingest_prices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2057400"/>
            <a:ext cx="1865376" cy="32004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900" b="0">
                <a:solidFill>
                  <a:srgbClr val="233746"/>
                </a:solidFill>
                <a:latin typeface="Aptos"/>
              </a:defRPr>
            </a:pPr>
            <a:r>
              <a:t>Yahoo → Bronze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71800" y="1600200"/>
            <a:ext cx="2148840" cy="841248"/>
          </a:xfrm>
          <a:prstGeom prst="roundRect">
            <a:avLst>
              <a:gd name="adj" fmla="val 8000"/>
            </a:avLst>
          </a:prstGeom>
          <a:solidFill>
            <a:srgbClr val="EFF4F6"/>
          </a:solidFill>
          <a:ln w="10160">
            <a:solidFill>
              <a:srgbClr val="D7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971800" y="1600200"/>
            <a:ext cx="64008" cy="841248"/>
          </a:xfrm>
          <a:prstGeom prst="rect">
            <a:avLst/>
          </a:prstGeom>
          <a:solidFill>
            <a:srgbClr val="007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136392" y="1700784"/>
            <a:ext cx="1874520" cy="310896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300" b="1">
                <a:solidFill>
                  <a:srgbClr val="16324F"/>
                </a:solidFill>
                <a:latin typeface="Aptos"/>
              </a:defRPr>
            </a:pPr>
            <a:r>
              <a:t>process_prices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36392" y="2057400"/>
            <a:ext cx="1865376" cy="32004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900" b="0">
                <a:solidFill>
                  <a:srgbClr val="233746"/>
                </a:solidFill>
                <a:latin typeface="Aptos"/>
              </a:defRPr>
            </a:pPr>
            <a:r>
              <a:t>Bronze → Silver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2971800"/>
            <a:ext cx="2148840" cy="841248"/>
          </a:xfrm>
          <a:prstGeom prst="roundRect">
            <a:avLst>
              <a:gd name="adj" fmla="val 8000"/>
            </a:avLst>
          </a:prstGeom>
          <a:solidFill>
            <a:srgbClr val="EFF4F6"/>
          </a:solidFill>
          <a:ln w="10160">
            <a:solidFill>
              <a:srgbClr val="D7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2971800"/>
            <a:ext cx="64008" cy="841248"/>
          </a:xfrm>
          <a:prstGeom prst="rect">
            <a:avLst/>
          </a:prstGeom>
          <a:solidFill>
            <a:srgbClr val="2C6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7512" y="3072384"/>
            <a:ext cx="1874520" cy="310896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300" b="1">
                <a:solidFill>
                  <a:srgbClr val="16324F"/>
                </a:solidFill>
                <a:latin typeface="Aptos"/>
              </a:defRPr>
            </a:pPr>
            <a:r>
              <a:t>ingest_trades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" y="3429000"/>
            <a:ext cx="1865376" cy="32004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900" b="0">
                <a:solidFill>
                  <a:srgbClr val="233746"/>
                </a:solidFill>
                <a:latin typeface="Aptos"/>
              </a:defRPr>
            </a:pPr>
            <a:r>
              <a:t>Volume → Bronze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971800" y="2971800"/>
            <a:ext cx="2148840" cy="841248"/>
          </a:xfrm>
          <a:prstGeom prst="roundRect">
            <a:avLst>
              <a:gd name="adj" fmla="val 8000"/>
            </a:avLst>
          </a:prstGeom>
          <a:solidFill>
            <a:srgbClr val="EFF4F6"/>
          </a:solidFill>
          <a:ln w="10160">
            <a:solidFill>
              <a:srgbClr val="D7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971800" y="2971800"/>
            <a:ext cx="64008" cy="841248"/>
          </a:xfrm>
          <a:prstGeom prst="rect">
            <a:avLst/>
          </a:prstGeom>
          <a:solidFill>
            <a:srgbClr val="2C6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136392" y="3072384"/>
            <a:ext cx="1874520" cy="310896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300" b="1">
                <a:solidFill>
                  <a:srgbClr val="16324F"/>
                </a:solidFill>
                <a:latin typeface="Aptos"/>
              </a:defRPr>
            </a:pPr>
            <a:r>
              <a:t>process_trades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36392" y="3429000"/>
            <a:ext cx="1865376" cy="32004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900" b="0">
                <a:solidFill>
                  <a:srgbClr val="233746"/>
                </a:solidFill>
                <a:latin typeface="Aptos"/>
              </a:defRPr>
            </a:pPr>
            <a:r>
              <a:t>Bronze → Silver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852160" y="2286000"/>
            <a:ext cx="2560320" cy="841248"/>
          </a:xfrm>
          <a:prstGeom prst="roundRect">
            <a:avLst>
              <a:gd name="adj" fmla="val 8000"/>
            </a:avLst>
          </a:prstGeom>
          <a:solidFill>
            <a:srgbClr val="EFF4F6"/>
          </a:solidFill>
          <a:ln w="10160">
            <a:solidFill>
              <a:srgbClr val="D7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852160" y="2286000"/>
            <a:ext cx="64008" cy="841248"/>
          </a:xfrm>
          <a:prstGeom prst="rect">
            <a:avLst/>
          </a:prstGeom>
          <a:solidFill>
            <a:srgbClr val="2C6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016752" y="2386584"/>
            <a:ext cx="2286000" cy="310896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300" b="1">
                <a:solidFill>
                  <a:srgbClr val="16324F"/>
                </a:solidFill>
                <a:latin typeface="Aptos"/>
              </a:defRPr>
            </a:pPr>
            <a:r>
              <a:t>build_positions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16752" y="2743200"/>
            <a:ext cx="2276856" cy="32004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900" b="0">
                <a:solidFill>
                  <a:srgbClr val="233746"/>
                </a:solidFill>
                <a:latin typeface="Aptos"/>
              </a:defRPr>
            </a:pPr>
            <a:r>
              <a:t>Silver trades + prices → Gold positions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006840" y="2286000"/>
            <a:ext cx="2560320" cy="841248"/>
          </a:xfrm>
          <a:prstGeom prst="roundRect">
            <a:avLst>
              <a:gd name="adj" fmla="val 8000"/>
            </a:avLst>
          </a:prstGeom>
          <a:solidFill>
            <a:srgbClr val="EFF4F6"/>
          </a:solidFill>
          <a:ln w="10160">
            <a:solidFill>
              <a:srgbClr val="D7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006840" y="2286000"/>
            <a:ext cx="64008" cy="841248"/>
          </a:xfrm>
          <a:prstGeom prst="rect">
            <a:avLst/>
          </a:prstGeom>
          <a:solidFill>
            <a:srgbClr val="2C6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71432" y="2386584"/>
            <a:ext cx="2286000" cy="310896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300" b="1">
                <a:solidFill>
                  <a:srgbClr val="16324F"/>
                </a:solidFill>
                <a:latin typeface="Aptos"/>
              </a:defRPr>
            </a:pPr>
            <a:r>
              <a:t>calculate_daily_pnl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71432" y="2743200"/>
            <a:ext cx="2276856" cy="32004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900" b="0">
                <a:solidFill>
                  <a:srgbClr val="233746"/>
                </a:solidFill>
                <a:latin typeface="Aptos"/>
              </a:defRPr>
            </a:pPr>
            <a:r>
              <a:t>positions + trades + prices → Gold P&amp;L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2688336" y="2011680"/>
            <a:ext cx="237744" cy="0"/>
          </a:xfrm>
          <a:prstGeom prst="line">
            <a:avLst/>
          </a:prstGeom>
          <a:ln w="25400">
            <a:solidFill>
              <a:srgbClr val="007C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2688336" y="3383280"/>
            <a:ext cx="237744" cy="0"/>
          </a:xfrm>
          <a:prstGeom prst="line">
            <a:avLst/>
          </a:prstGeom>
          <a:ln w="25400">
            <a:solidFill>
              <a:srgbClr val="007C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166360" y="2011680"/>
            <a:ext cx="630936" cy="502920"/>
          </a:xfrm>
          <a:prstGeom prst="line">
            <a:avLst/>
          </a:prstGeom>
          <a:ln w="25400">
            <a:solidFill>
              <a:srgbClr val="007C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5166360" y="2834640"/>
            <a:ext cx="630936" cy="548640"/>
          </a:xfrm>
          <a:prstGeom prst="line">
            <a:avLst/>
          </a:prstGeom>
          <a:ln w="25400">
            <a:solidFill>
              <a:srgbClr val="007C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8458200" y="2706624"/>
            <a:ext cx="502920" cy="0"/>
          </a:xfrm>
          <a:prstGeom prst="line">
            <a:avLst/>
          </a:prstGeom>
          <a:ln w="25400">
            <a:solidFill>
              <a:srgbClr val="007C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685800" y="4315968"/>
            <a:ext cx="10789920" cy="512064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500" b="1">
                <a:solidFill>
                  <a:srgbClr val="16324F"/>
                </a:solidFill>
                <a:latin typeface="Aptos"/>
              </a:defRPr>
            </a:pPr>
            <a:r>
              <a:t>Actual DAG: two independent source branches; build_positions joins both Silver outputs; calculate_daily_pnl follows positions.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" y="4965192"/>
            <a:ext cx="10789920" cy="859536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300" b="0">
                <a:solidFill>
                  <a:srgbClr val="233746"/>
                </a:solidFill>
                <a:latin typeface="Aptos"/>
              </a:defRPr>
            </a:pPr>
            <a:r>
              <a:t>Job controls: max_concurrent_runs=1; parameters include tickers, inclusive start/end dates, and trade_input_path. Weekday 18:00 America/New_York schedule is configured PAUSED; development Bundle mode keeps schedule paused.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83464"/>
            <a:ext cx="10789920" cy="50292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2500" b="1">
                <a:solidFill>
                  <a:srgbClr val="16324F"/>
                </a:solidFill>
                <a:latin typeface="Aptos Display"/>
              </a:defRPr>
            </a:pPr>
            <a:r>
              <a:t>Logical model and physical grains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0972800" cy="256032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900" b="1">
                <a:solidFill>
                  <a:srgbClr val="007C78"/>
                </a:solidFill>
                <a:latin typeface="Aptos"/>
              </a:defRPr>
            </a:pPr>
            <a:r>
              <a:t>05 | DATA MODEL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10528"/>
            <a:ext cx="11173968" cy="10972"/>
          </a:xfrm>
          <a:prstGeom prst="rect">
            <a:avLst/>
          </a:prstGeom>
          <a:solidFill>
            <a:srgbClr val="D7E0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56248"/>
            <a:ext cx="9601200" cy="164592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800" b="0">
                <a:solidFill>
                  <a:srgbClr val="647786"/>
                </a:solidFill>
                <a:latin typeface="Aptos"/>
              </a:defRPr>
            </a:pPr>
            <a:r>
              <a:t>TRADING PLATFORM  |  EVIDENCE BASELINE 2026-10-14  |  PROPOSED DELIVERY PLAN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537960"/>
            <a:ext cx="502920" cy="18288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r">
              <a:defRPr sz="900" b="1">
                <a:solidFill>
                  <a:srgbClr val="647786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353312"/>
            <a:ext cx="2267712" cy="1261872"/>
          </a:xfrm>
          <a:prstGeom prst="roundRect">
            <a:avLst>
              <a:gd name="adj" fmla="val 8000"/>
            </a:avLst>
          </a:prstGeom>
          <a:solidFill>
            <a:srgbClr val="EAF3F1"/>
          </a:solidFill>
          <a:ln w="10160">
            <a:solidFill>
              <a:srgbClr val="D7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353312"/>
            <a:ext cx="64008" cy="1261872"/>
          </a:xfrm>
          <a:prstGeom prst="rect">
            <a:avLst/>
          </a:prstGeom>
          <a:solidFill>
            <a:srgbClr val="2C6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" y="1453896"/>
            <a:ext cx="1993392" cy="310896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500" b="1">
                <a:solidFill>
                  <a:srgbClr val="16324F"/>
                </a:solidFill>
                <a:latin typeface="Aptos"/>
              </a:defRPr>
            </a:pPr>
            <a:r>
              <a:t>Silver trades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1810512"/>
            <a:ext cx="1984248" cy="740664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100" b="0">
                <a:solidFill>
                  <a:srgbClr val="233746"/>
                </a:solidFill>
                <a:latin typeface="Aptos"/>
              </a:defRPr>
            </a:pPr>
            <a:r>
              <a:t>trade_id (one current version)</a:t>
            </a:r>
            <a:br/>
            <a:r>
              <a:t>book / counterparty / instrument</a:t>
            </a:r>
            <a:br/>
            <a:r>
              <a:t>signed quantity, trade price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154680"/>
            <a:ext cx="2267712" cy="1261872"/>
          </a:xfrm>
          <a:prstGeom prst="roundRect">
            <a:avLst>
              <a:gd name="adj" fmla="val 8000"/>
            </a:avLst>
          </a:prstGeom>
          <a:solidFill>
            <a:srgbClr val="EAF3F1"/>
          </a:solidFill>
          <a:ln w="10160">
            <a:solidFill>
              <a:srgbClr val="D7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3154680"/>
            <a:ext cx="64008" cy="1261872"/>
          </a:xfrm>
          <a:prstGeom prst="rect">
            <a:avLst/>
          </a:prstGeom>
          <a:solidFill>
            <a:srgbClr val="007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" y="3255264"/>
            <a:ext cx="1993392" cy="310896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500" b="1">
                <a:solidFill>
                  <a:srgbClr val="16324F"/>
                </a:solidFill>
                <a:latin typeface="Aptos"/>
              </a:defRPr>
            </a:pPr>
            <a:r>
              <a:t>Silver prices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" y="3611880"/>
            <a:ext cx="1984248" cy="740664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100" b="0">
                <a:solidFill>
                  <a:srgbClr val="233746"/>
                </a:solidFill>
                <a:latin typeface="Aptos"/>
              </a:defRPr>
            </a:pPr>
            <a:r>
              <a:t>symbol + price_date</a:t>
            </a:r>
            <a:br/>
            <a:r>
              <a:t>close DECIMAL(18,6)</a:t>
            </a:r>
            <a:br/>
            <a:r>
              <a:t>USD; source/run lineage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703320" y="2139696"/>
            <a:ext cx="2423160" cy="1417320"/>
          </a:xfrm>
          <a:prstGeom prst="roundRect">
            <a:avLst>
              <a:gd name="adj" fmla="val 8000"/>
            </a:avLst>
          </a:prstGeom>
          <a:solidFill>
            <a:srgbClr val="FAF0E5"/>
          </a:solidFill>
          <a:ln w="10160">
            <a:solidFill>
              <a:srgbClr val="D7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703320" y="2139696"/>
            <a:ext cx="64008" cy="1417320"/>
          </a:xfrm>
          <a:prstGeom prst="rect">
            <a:avLst/>
          </a:prstGeom>
          <a:solidFill>
            <a:srgbClr val="C875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67911" y="2240279"/>
            <a:ext cx="2148840" cy="310896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400" b="1">
                <a:solidFill>
                  <a:srgbClr val="16324F"/>
                </a:solidFill>
                <a:latin typeface="Aptos"/>
              </a:defRPr>
            </a:pPr>
            <a:r>
              <a:t>Gold positions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67911" y="2596896"/>
            <a:ext cx="2139696" cy="896112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100" b="0">
                <a:solidFill>
                  <a:srgbClr val="233746"/>
                </a:solidFill>
                <a:latin typeface="Aptos"/>
              </a:defRPr>
            </a:pPr>
            <a:r>
              <a:t>date + book + counterparty</a:t>
            </a:r>
            <a:br/>
            <a:r>
              <a:t>+ instrument + currency</a:t>
            </a:r>
            <a:br/>
            <a:r>
              <a:t>cumulative signed quantity</a:t>
            </a:r>
            <a:br/>
            <a:r>
              <a:t>exact-date mark / market value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59168" y="2139696"/>
            <a:ext cx="2267712" cy="1417320"/>
          </a:xfrm>
          <a:prstGeom prst="roundRect">
            <a:avLst>
              <a:gd name="adj" fmla="val 8000"/>
            </a:avLst>
          </a:prstGeom>
          <a:solidFill>
            <a:srgbClr val="FAF0E5"/>
          </a:solidFill>
          <a:ln w="10160">
            <a:solidFill>
              <a:srgbClr val="D7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059168" y="2139696"/>
            <a:ext cx="64008" cy="1417320"/>
          </a:xfrm>
          <a:prstGeom prst="rect">
            <a:avLst/>
          </a:prstGeom>
          <a:solidFill>
            <a:srgbClr val="C875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223759" y="2240279"/>
            <a:ext cx="1993392" cy="310896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400" b="1">
                <a:solidFill>
                  <a:srgbClr val="16324F"/>
                </a:solidFill>
                <a:latin typeface="Aptos"/>
              </a:defRPr>
            </a:pPr>
            <a:r>
              <a:t>Gold daily P&amp;L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759" y="2596896"/>
            <a:ext cx="1984248" cy="896112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100" b="0">
                <a:solidFill>
                  <a:srgbClr val="233746"/>
                </a:solidFill>
                <a:latin typeface="Aptos"/>
              </a:defRPr>
            </a:pPr>
            <a:r>
              <a:t>date + book + symbol</a:t>
            </a:r>
            <a:br/>
            <a:r>
              <a:t>+ currency</a:t>
            </a:r>
            <a:br/>
            <a:r>
              <a:t>opening/closing, marks, P&amp;L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857232" y="1353312"/>
            <a:ext cx="1828800" cy="1261872"/>
          </a:xfrm>
          <a:prstGeom prst="roundRect">
            <a:avLst>
              <a:gd name="adj" fmla="val 8000"/>
            </a:avLst>
          </a:prstGeom>
          <a:solidFill>
            <a:srgbClr val="EFF4F6"/>
          </a:solidFill>
          <a:ln w="10160">
            <a:solidFill>
              <a:srgbClr val="D7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857232" y="1353312"/>
            <a:ext cx="64008" cy="1261872"/>
          </a:xfrm>
          <a:prstGeom prst="rect">
            <a:avLst/>
          </a:prstGeom>
          <a:solidFill>
            <a:srgbClr val="2C6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21824" y="1453896"/>
            <a:ext cx="1554480" cy="310896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400" b="1">
                <a:solidFill>
                  <a:srgbClr val="16324F"/>
                </a:solidFill>
                <a:latin typeface="Aptos"/>
              </a:defRPr>
            </a:pPr>
            <a:r>
              <a:t>Audit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21824" y="1810512"/>
            <a:ext cx="1545336" cy="740664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000" b="0">
                <a:solidFill>
                  <a:srgbClr val="233746"/>
                </a:solidFill>
                <a:latin typeface="Aptos"/>
              </a:defRPr>
            </a:pPr>
            <a:r>
              <a:t>run + task attempt</a:t>
            </a:r>
            <a:br/>
            <a:r>
              <a:t>status / metrics / error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857232" y="3154680"/>
            <a:ext cx="1828800" cy="1261872"/>
          </a:xfrm>
          <a:prstGeom prst="roundRect">
            <a:avLst>
              <a:gd name="adj" fmla="val 8000"/>
            </a:avLst>
          </a:prstGeom>
          <a:solidFill>
            <a:srgbClr val="FAF0E6"/>
          </a:solidFill>
          <a:ln w="10160">
            <a:solidFill>
              <a:srgbClr val="D7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857232" y="3154680"/>
            <a:ext cx="64008" cy="1261872"/>
          </a:xfrm>
          <a:prstGeom prst="rect">
            <a:avLst/>
          </a:prstGeom>
          <a:solidFill>
            <a:srgbClr val="C875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21824" y="3255264"/>
            <a:ext cx="1554480" cy="310896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400" b="1">
                <a:solidFill>
                  <a:srgbClr val="16324F"/>
                </a:solidFill>
                <a:latin typeface="Aptos"/>
              </a:defRPr>
            </a:pPr>
            <a:r>
              <a:t>Breaks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21824" y="3611880"/>
            <a:ext cx="1545336" cy="740664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000" b="0">
                <a:solidFill>
                  <a:srgbClr val="233746"/>
                </a:solidFill>
                <a:latin typeface="Aptos"/>
              </a:defRPr>
            </a:pPr>
            <a:r>
              <a:t>run + instrument/date</a:t>
            </a:r>
            <a:br/>
            <a:r>
              <a:t>+ break type (or trade)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2798064" y="1993392"/>
            <a:ext cx="859536" cy="512064"/>
          </a:xfrm>
          <a:prstGeom prst="line">
            <a:avLst/>
          </a:prstGeom>
          <a:ln w="25400">
            <a:solidFill>
              <a:srgbClr val="007C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2798064" y="3182112"/>
            <a:ext cx="859536" cy="566927"/>
          </a:xfrm>
          <a:prstGeom prst="line">
            <a:avLst/>
          </a:prstGeom>
          <a:ln w="25400">
            <a:solidFill>
              <a:srgbClr val="007C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6163056" y="2852928"/>
            <a:ext cx="850392" cy="0"/>
          </a:xfrm>
          <a:prstGeom prst="line">
            <a:avLst/>
          </a:prstGeom>
          <a:ln w="25400">
            <a:solidFill>
              <a:srgbClr val="007C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8357616" y="3621024"/>
            <a:ext cx="1453896" cy="91439"/>
          </a:xfrm>
          <a:prstGeom prst="line">
            <a:avLst/>
          </a:prstGeom>
          <a:ln w="25400">
            <a:solidFill>
              <a:srgbClr val="007C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694944" y="4919472"/>
            <a:ext cx="10881360" cy="96012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300" b="0">
                <a:solidFill>
                  <a:srgbClr val="233746"/>
                </a:solidFill>
                <a:latin typeface="Aptos"/>
              </a:defRPr>
            </a:pPr>
            <a:r>
              <a:t>Physical definitions: 10 DDL tables; Bronze preserves raw strings, Silver uses typed DATE/TIMESTAMP/DECIMAL, Gold uses DECIMAL(28,6) quantities and DECIMAL(38,6) values. Business keys are documented assumptions, not declared database primary-key constraints. No partitioning/clustering is configured.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83464"/>
            <a:ext cx="10789920" cy="50292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2500" b="1">
                <a:solidFill>
                  <a:srgbClr val="16324F"/>
                </a:solidFill>
                <a:latin typeface="Aptos Display"/>
              </a:defRPr>
            </a:pPr>
            <a:r>
              <a:t>Position and P&amp;L calculation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0972800" cy="256032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900" b="1">
                <a:solidFill>
                  <a:srgbClr val="007C78"/>
                </a:solidFill>
                <a:latin typeface="Aptos"/>
              </a:defRPr>
            </a:pPr>
            <a:r>
              <a:t>06 | FINANCIAL LOGIC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10528"/>
            <a:ext cx="11173968" cy="10972"/>
          </a:xfrm>
          <a:prstGeom prst="rect">
            <a:avLst/>
          </a:prstGeom>
          <a:solidFill>
            <a:srgbClr val="D7E0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56248"/>
            <a:ext cx="9601200" cy="164592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800" b="0">
                <a:solidFill>
                  <a:srgbClr val="647786"/>
                </a:solidFill>
                <a:latin typeface="Aptos"/>
              </a:defRPr>
            </a:pPr>
            <a:r>
              <a:t>TRADING PLATFORM  |  EVIDENCE BASELINE 2026-10-14  |  PROPOSED DELIVERY PLAN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537960"/>
            <a:ext cx="502920" cy="18288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r">
              <a:defRPr sz="900" b="1">
                <a:solidFill>
                  <a:srgbClr val="647786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389888"/>
            <a:ext cx="5257800" cy="3401568"/>
          </a:xfrm>
          <a:prstGeom prst="roundRect">
            <a:avLst>
              <a:gd name="adj" fmla="val 8000"/>
            </a:avLst>
          </a:prstGeom>
          <a:solidFill>
            <a:srgbClr val="EAF3F1"/>
          </a:solidFill>
          <a:ln w="10160">
            <a:solidFill>
              <a:srgbClr val="D7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1389888"/>
            <a:ext cx="64008" cy="3401568"/>
          </a:xfrm>
          <a:prstGeom prst="rect">
            <a:avLst/>
          </a:prstGeom>
          <a:solidFill>
            <a:srgbClr val="007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1490472"/>
            <a:ext cx="4983480" cy="310896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700" b="1">
                <a:solidFill>
                  <a:srgbClr val="16324F"/>
                </a:solidFill>
                <a:latin typeface="Aptos"/>
              </a:defRPr>
            </a:pPr>
            <a:r>
              <a:t>Position calculation | implemented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1847088"/>
            <a:ext cx="4974336" cy="288036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300" b="0">
                <a:solidFill>
                  <a:srgbClr val="233746"/>
                </a:solidFill>
                <a:latin typeface="Aptos"/>
              </a:defRPr>
            </a:pPr>
            <a:r>
              <a:t>BUY quantity is positive; SELL quantity is negative.</a:t>
            </a:r>
            <a:br/>
            <a:br/>
            <a:r>
              <a:t>Daily net = SUM(signed trade quantity)</a:t>
            </a:r>
            <a:br/>
            <a:r>
              <a:t>Closing position = cumulative SUM(daily net)</a:t>
            </a:r>
            <a:br/>
            <a:r>
              <a:t>Market value = closing position × same-day close</a:t>
            </a:r>
            <a:br/>
            <a:br/>
            <a:r>
              <a:t>Grain: date / book / counterparty / instrument / currency.</a:t>
            </a:r>
            <a:br/>
            <a:r>
              <a:t>No-trade sessions carry the position. Price gaps leave value NULL and create a break.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389888"/>
            <a:ext cx="5257800" cy="3401568"/>
          </a:xfrm>
          <a:prstGeom prst="roundRect">
            <a:avLst>
              <a:gd name="adj" fmla="val 8000"/>
            </a:avLst>
          </a:prstGeom>
          <a:solidFill>
            <a:srgbClr val="FAF0E5"/>
          </a:solidFill>
          <a:ln w="10160">
            <a:solidFill>
              <a:srgbClr val="D7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3640" y="1389888"/>
            <a:ext cx="64008" cy="3401568"/>
          </a:xfrm>
          <a:prstGeom prst="rect">
            <a:avLst/>
          </a:prstGeom>
          <a:solidFill>
            <a:srgbClr val="C875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28231" y="1490472"/>
            <a:ext cx="4983480" cy="310896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600" b="1">
                <a:solidFill>
                  <a:srgbClr val="16324F"/>
                </a:solidFill>
                <a:latin typeface="Aptos"/>
              </a:defRPr>
            </a:pPr>
            <a:r>
              <a:t>Daily P&amp;L | simplified, implemented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28231" y="1847088"/>
            <a:ext cx="4974336" cy="288036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200" b="0">
                <a:solidFill>
                  <a:srgbClr val="233746"/>
                </a:solidFill>
                <a:latin typeface="Aptos"/>
              </a:defRPr>
            </a:pPr>
            <a:r>
              <a:t>Opening quantity = closing quantity − daily net quantity</a:t>
            </a:r>
            <a:br/>
            <a:br/>
            <a:r>
              <a:t>Daily P&amp;L = OpeningQty × (CurrentClose − PreviousClose)</a:t>
            </a:r>
            <a:br/>
            <a:r>
              <a:t>+ (DailyNetQty × CurrentClose − signed trade consideration)</a:t>
            </a:r>
            <a:br/>
            <a:br/>
            <a:r>
              <a:t>The trade-day term captures execution-to-close economics without applying the full day's price move to new quantity. Missing current close, or missing prior baseline for nonzero opening inventory, yields NULL + break.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5166360"/>
            <a:ext cx="10698480" cy="82296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200" b="0">
                <a:solidFill>
                  <a:srgbClr val="233746"/>
                </a:solidFill>
                <a:latin typeface="Aptos"/>
              </a:defRPr>
            </a:pPr>
            <a:r>
              <a:t>Example: opening 10 shares; buy 5 at 106; prior close 105; current close 108. Price move = 10×3 = 30; trade-day term = 5×108−5×106 = 10; daily P&amp;L = 40. Cash, fees, realized/unrealized accounting, FX, corporate actions, and accounting sign-off are outside this prototype.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83464"/>
            <a:ext cx="10789920" cy="50292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2500" b="1">
                <a:solidFill>
                  <a:srgbClr val="16324F"/>
                </a:solidFill>
                <a:latin typeface="Aptos Display"/>
              </a:defRPr>
            </a:pPr>
            <a:r>
              <a:t>Deployment architecture and operational controls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0972800" cy="256032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900" b="1">
                <a:solidFill>
                  <a:srgbClr val="007C78"/>
                </a:solidFill>
                <a:latin typeface="Aptos"/>
              </a:defRPr>
            </a:pPr>
            <a:r>
              <a:t>07 | DEPLOY AND OPERATE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10528"/>
            <a:ext cx="11173968" cy="10972"/>
          </a:xfrm>
          <a:prstGeom prst="rect">
            <a:avLst/>
          </a:prstGeom>
          <a:solidFill>
            <a:srgbClr val="D7E0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56248"/>
            <a:ext cx="9601200" cy="164592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800" b="0">
                <a:solidFill>
                  <a:srgbClr val="647786"/>
                </a:solidFill>
                <a:latin typeface="Aptos"/>
              </a:defRPr>
            </a:pPr>
            <a:r>
              <a:t>TRADING PLATFORM  |  EVIDENCE BASELINE 2026-10-14  |  PROPOSED DELIVERY PLAN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537960"/>
            <a:ext cx="502920" cy="18288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r">
              <a:defRPr sz="900" b="1">
                <a:solidFill>
                  <a:srgbClr val="647786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426464"/>
            <a:ext cx="2423160" cy="1426464"/>
          </a:xfrm>
          <a:prstGeom prst="roundRect">
            <a:avLst>
              <a:gd name="adj" fmla="val 8000"/>
            </a:avLst>
          </a:prstGeom>
          <a:solidFill>
            <a:srgbClr val="EFF4F6"/>
          </a:solidFill>
          <a:ln w="10160">
            <a:solidFill>
              <a:srgbClr val="D7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426464"/>
            <a:ext cx="64008" cy="1426464"/>
          </a:xfrm>
          <a:prstGeom prst="rect">
            <a:avLst/>
          </a:prstGeom>
          <a:solidFill>
            <a:srgbClr val="2C6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" y="1527048"/>
            <a:ext cx="2148840" cy="310896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500" b="1">
                <a:solidFill>
                  <a:srgbClr val="16324F"/>
                </a:solidFill>
                <a:latin typeface="Aptos"/>
              </a:defRPr>
            </a:pPr>
            <a:r>
              <a:t>Source repo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1883664"/>
            <a:ext cx="2139696" cy="905256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100" b="0">
                <a:solidFill>
                  <a:srgbClr val="233746"/>
                </a:solidFill>
                <a:latin typeface="Aptos"/>
              </a:defRPr>
            </a:pPr>
            <a:r>
              <a:t>Python package + notebooks</a:t>
            </a:r>
            <a:br/>
            <a:r>
              <a:t>pytest suite</a:t>
            </a:r>
            <a:br/>
            <a:r>
              <a:t>Bundle YAML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64992" y="1426464"/>
            <a:ext cx="2423160" cy="1426464"/>
          </a:xfrm>
          <a:prstGeom prst="roundRect">
            <a:avLst>
              <a:gd name="adj" fmla="val 8000"/>
            </a:avLst>
          </a:prstGeom>
          <a:solidFill>
            <a:srgbClr val="EAF3F1"/>
          </a:solidFill>
          <a:ln w="10160">
            <a:solidFill>
              <a:srgbClr val="D7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64992" y="1426464"/>
            <a:ext cx="64008" cy="1426464"/>
          </a:xfrm>
          <a:prstGeom prst="rect">
            <a:avLst/>
          </a:prstGeom>
          <a:solidFill>
            <a:srgbClr val="007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29584" y="1527048"/>
            <a:ext cx="2148840" cy="310896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500" b="1">
                <a:solidFill>
                  <a:srgbClr val="16324F"/>
                </a:solidFill>
                <a:latin typeface="Aptos"/>
              </a:defRPr>
            </a:pPr>
            <a:r>
              <a:t>Asset Bundle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9584" y="1883664"/>
            <a:ext cx="2139696" cy="905256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100" b="0">
                <a:solidFill>
                  <a:srgbClr val="233746"/>
                </a:solidFill>
                <a:latin typeface="Aptos"/>
              </a:defRPr>
            </a:pPr>
            <a:r>
              <a:t>Build wheel</a:t>
            </a:r>
            <a:br/>
            <a:r>
              <a:t>validate / deploy</a:t>
            </a:r>
            <a:br/>
            <a:r>
              <a:t>current target: dev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1426464"/>
            <a:ext cx="2423160" cy="1426464"/>
          </a:xfrm>
          <a:prstGeom prst="roundRect">
            <a:avLst>
              <a:gd name="adj" fmla="val 8000"/>
            </a:avLst>
          </a:prstGeom>
          <a:solidFill>
            <a:srgbClr val="FAF0E5"/>
          </a:solidFill>
          <a:ln w="10160">
            <a:solidFill>
              <a:srgbClr val="D7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0" y="1426464"/>
            <a:ext cx="64008" cy="1426464"/>
          </a:xfrm>
          <a:prstGeom prst="rect">
            <a:avLst/>
          </a:prstGeom>
          <a:solidFill>
            <a:srgbClr val="C875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82512" y="1527048"/>
            <a:ext cx="2148840" cy="310896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500" b="1">
                <a:solidFill>
                  <a:srgbClr val="16324F"/>
                </a:solidFill>
                <a:latin typeface="Aptos"/>
              </a:defRPr>
            </a:pPr>
            <a:r>
              <a:t>Databricks Job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82512" y="1883664"/>
            <a:ext cx="2139696" cy="905256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100" b="0">
                <a:solidFill>
                  <a:srgbClr val="233746"/>
                </a:solidFill>
                <a:latin typeface="Aptos"/>
              </a:defRPr>
            </a:pPr>
            <a:r>
              <a:t>Six wheel tasks</a:t>
            </a:r>
            <a:br/>
            <a:r>
              <a:t>serverless environment</a:t>
            </a:r>
            <a:br/>
            <a:r>
              <a:t>weekday schedule paused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79992" y="1426464"/>
            <a:ext cx="2560320" cy="1426464"/>
          </a:xfrm>
          <a:prstGeom prst="roundRect">
            <a:avLst>
              <a:gd name="adj" fmla="val 8000"/>
            </a:avLst>
          </a:prstGeom>
          <a:solidFill>
            <a:srgbClr val="EFF4F6"/>
          </a:solidFill>
          <a:ln w="10160">
            <a:solidFill>
              <a:srgbClr val="D7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79992" y="1426464"/>
            <a:ext cx="64008" cy="1426464"/>
          </a:xfrm>
          <a:prstGeom prst="rect">
            <a:avLst/>
          </a:prstGeom>
          <a:solidFill>
            <a:srgbClr val="2C6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44584" y="1527048"/>
            <a:ext cx="2286000" cy="310896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500" b="1">
                <a:solidFill>
                  <a:srgbClr val="16324F"/>
                </a:solidFill>
                <a:latin typeface="Aptos"/>
              </a:defRPr>
            </a:pPr>
            <a:r>
              <a:t>Unity Catalog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44584" y="1883664"/>
            <a:ext cx="2276856" cy="905256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100" b="0">
                <a:solidFill>
                  <a:srgbClr val="233746"/>
                </a:solidFill>
                <a:latin typeface="Aptos"/>
              </a:defRPr>
            </a:pPr>
            <a:r>
              <a:t>cibc schemas + Volume</a:t>
            </a:r>
            <a:br/>
            <a:r>
              <a:t>managed Delta tables</a:t>
            </a:r>
            <a:br/>
            <a:r>
              <a:t>grants template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2962656" y="2130552"/>
            <a:ext cx="356616" cy="0"/>
          </a:xfrm>
          <a:prstGeom prst="line">
            <a:avLst/>
          </a:prstGeom>
          <a:ln w="25400">
            <a:solidFill>
              <a:srgbClr val="007C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815584" y="2130552"/>
            <a:ext cx="356616" cy="0"/>
          </a:xfrm>
          <a:prstGeom prst="line">
            <a:avLst/>
          </a:prstGeom>
          <a:ln w="25400">
            <a:solidFill>
              <a:srgbClr val="007C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8668512" y="2130552"/>
            <a:ext cx="365760" cy="0"/>
          </a:xfrm>
          <a:prstGeom prst="line">
            <a:avLst/>
          </a:prstGeom>
          <a:ln w="25400">
            <a:solidFill>
              <a:srgbClr val="007C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685800" y="3767328"/>
            <a:ext cx="3383280" cy="1389888"/>
          </a:xfrm>
          <a:prstGeom prst="roundRect">
            <a:avLst>
              <a:gd name="adj" fmla="val 8000"/>
            </a:avLst>
          </a:prstGeom>
          <a:solidFill>
            <a:srgbClr val="EAF3F1"/>
          </a:solidFill>
          <a:ln w="10160">
            <a:solidFill>
              <a:srgbClr val="D7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85800" y="3767328"/>
            <a:ext cx="64008" cy="1389888"/>
          </a:xfrm>
          <a:prstGeom prst="rect">
            <a:avLst/>
          </a:prstGeom>
          <a:solidFill>
            <a:srgbClr val="007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0392" y="3867912"/>
            <a:ext cx="3108960" cy="310896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500" b="1">
                <a:solidFill>
                  <a:srgbClr val="16324F"/>
                </a:solidFill>
                <a:latin typeface="Aptos"/>
              </a:defRPr>
            </a:pPr>
            <a:r>
              <a:t>Current operational signals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0392" y="4224528"/>
            <a:ext cx="3099816" cy="86868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100" b="0">
                <a:solidFill>
                  <a:srgbClr val="233746"/>
                </a:solidFill>
                <a:latin typeface="Aptos"/>
              </a:defRPr>
            </a:pPr>
            <a:r>
              <a:t>Task audit status/counts/errors</a:t>
            </a:r>
            <a:br/>
            <a:r>
              <a:t>Silver reject history</a:t>
            </a:r>
            <a:br/>
            <a:r>
              <a:t>Run-level valuation breaks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389120" y="3767328"/>
            <a:ext cx="3383280" cy="1389888"/>
          </a:xfrm>
          <a:prstGeom prst="roundRect">
            <a:avLst>
              <a:gd name="adj" fmla="val 8000"/>
            </a:avLst>
          </a:prstGeom>
          <a:solidFill>
            <a:srgbClr val="FAF0E5"/>
          </a:solidFill>
          <a:ln w="10160">
            <a:solidFill>
              <a:srgbClr val="D7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389120" y="3767328"/>
            <a:ext cx="64008" cy="1389888"/>
          </a:xfrm>
          <a:prstGeom prst="rect">
            <a:avLst/>
          </a:prstGeom>
          <a:solidFill>
            <a:srgbClr val="C875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53712" y="3867912"/>
            <a:ext cx="3108960" cy="310896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500" b="1">
                <a:solidFill>
                  <a:srgbClr val="16324F"/>
                </a:solidFill>
                <a:latin typeface="Aptos"/>
              </a:defRPr>
            </a:pPr>
            <a:r>
              <a:t>Current gaps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53712" y="4224528"/>
            <a:ext cx="3099816" cy="86868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100" b="0">
                <a:solidFill>
                  <a:srgbClr val="233746"/>
                </a:solidFill>
                <a:latin typeface="Aptos"/>
              </a:defRPr>
            </a:pPr>
            <a:r>
              <a:t>No automated alerting</a:t>
            </a:r>
            <a:br/>
            <a:r>
              <a:t>No CI / non-dev target</a:t>
            </a:r>
            <a:br/>
            <a:r>
              <a:t>Schedule paused; principal placeholder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092440" y="3767328"/>
            <a:ext cx="3383280" cy="1389888"/>
          </a:xfrm>
          <a:prstGeom prst="roundRect">
            <a:avLst>
              <a:gd name="adj" fmla="val 8000"/>
            </a:avLst>
          </a:prstGeom>
          <a:solidFill>
            <a:srgbClr val="EFF4F6"/>
          </a:solidFill>
          <a:ln w="10160">
            <a:solidFill>
              <a:srgbClr val="D7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092440" y="3767328"/>
            <a:ext cx="64008" cy="1389888"/>
          </a:xfrm>
          <a:prstGeom prst="rect">
            <a:avLst/>
          </a:prstGeom>
          <a:solidFill>
            <a:srgbClr val="2C6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57031" y="3867912"/>
            <a:ext cx="3108960" cy="310896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500" b="1">
                <a:solidFill>
                  <a:srgbClr val="16324F"/>
                </a:solidFill>
                <a:latin typeface="Aptos"/>
              </a:defRPr>
            </a:pPr>
            <a:r>
              <a:t>Readiness gates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57031" y="4224528"/>
            <a:ext cx="3099816" cy="86868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100" b="0">
                <a:solidFill>
                  <a:srgbClr val="233746"/>
                </a:solidFill>
                <a:latin typeface="Aptos"/>
              </a:defRPr>
            </a:pPr>
            <a:r>
              <a:t>Provider + data rights</a:t>
            </a:r>
            <a:br/>
            <a:r>
              <a:t>Least privilege + support owner</a:t>
            </a:r>
            <a:br/>
            <a:r>
              <a:t>Rerun/UAT + retention/RTO/RPO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5577840"/>
            <a:ext cx="10698480" cy="502920"/>
          </a:xfrm>
          <a:prstGeom prst="rect">
            <a:avLst/>
          </a:prstGeom>
          <a:noFill/>
        </p:spPr>
        <p:txBody>
          <a:bodyPr wrap="square" lIns="45720" rIns="45720" tIns="27432" bIns="18288">
            <a:spAutoFit/>
          </a:bodyPr>
          <a:lstStyle/>
          <a:p>
            <a:pPr algn="l">
              <a:defRPr sz="1200" b="0">
                <a:solidFill>
                  <a:srgbClr val="647786"/>
                </a:solidFill>
                <a:latin typeface="Aptos"/>
              </a:defRPr>
            </a:pPr>
            <a:r>
              <a:t>Existing scripts/deploy.sh uses Databricks CLI and the Bundle. No production Bundle target or promotion pipeline is present; all future deployment architecture is proposed.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>Evidence-based Databricks trading platform delivery plan</dc:subject>
  <dc:creator>Project Delivery Planning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