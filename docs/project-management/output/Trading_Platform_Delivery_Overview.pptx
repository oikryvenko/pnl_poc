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establish the actual baseline first, then state the proposed work. Quote dated run evidence and its limitations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connect measurable outcomes to acceptance evidence. Targets marked proposed remain discussion points until owners approve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clarify decision rights and escalation routes. Roles shown are proposed stakeholder functions, not named participants or completed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connect the technical evidence to an accountable decision, dependency, acceptance gate, or risk. Label assumptions and unverified results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show the control chain from business outcome to acceptance evidence. Traceability makes scope changes assessable rather than informal.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plan around capability outcomes and dependencies. Current implementation items are evidence, not new delivery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use relative weeks and capacity assumptions only. Reforecast when source, access, or stakeholder decisions move; optional work is not hidden in the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distinguish a dependency-led sequence from a CPM critical path. We lack activity durations, resource leveling, and float to calculate the latter.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review triggers and owners weekly; escalate before the milestone is missed. Governance is deliberately proportionate to a small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require reproducible evidence, business reconciliation, operational acceptance, and an explicit no-go path. Skips are not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report variance and uncertainty without spin. State known failures, unverified results, and the decision or owner needed to recover.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close the highest-risk decisions first, preserve the paused schedule, and make any added scope pass change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explain the bars as proposed sprint allocation windows, not task durations. The schedule uses relative weeks only; status colors distinguish evidence from planned schedule. Point out that no kickoff date or activity-level duration was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walk the exact story-level finish-to-start relationships, including current but undated prerequisites. Explicitly state that CPM dates and float are not calculated because points and sprint windows do not provide activity durations or resource leveling.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Project overview | problem, 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01 | DELIVERY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35024"/>
            <a:ext cx="3401568" cy="2066543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35024"/>
            <a:ext cx="64008" cy="2066543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35608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92224"/>
            <a:ext cx="3118104" cy="15453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Trade snapshots and daily equity prices need controlled validation, position aggregation, valuation, P&amp;L and exception visibility.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35024"/>
            <a:ext cx="3401568" cy="2066543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35024"/>
            <a:ext cx="64008" cy="2066543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35608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92224"/>
            <a:ext cx="3118104" cy="15453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Databricks trading data processing and daily P&amp;L proof of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35024"/>
            <a:ext cx="3401568" cy="2066543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35024"/>
            <a:ext cx="64008" cy="2066543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435608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Technology and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792224"/>
            <a:ext cx="3118104" cy="15453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Databricks; PySpark / SQL; Delta Lake; Unity Catalog; Workflows; Asset Bundle; synthetic trades; prototype prices.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794760"/>
            <a:ext cx="10698480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A94442"/>
                </a:solidFill>
                <a:latin typeface="Aptos"/>
              </a:defRPr>
            </a:pPr>
            <a:r>
              <a:t>Current implementation is a technical proof of concept. The brief says Azure Databricks, while workspace evidence indicates AWS; target cloud needs confirmation. No production banking deployment or approval is claimed.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800600"/>
            <a:ext cx="1060704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647786"/>
                </a:solidFill>
                <a:latin typeface="Aptos"/>
              </a:defRPr>
            </a:pPr>
            <a:r>
              <a:t>Boundaries: USD equities, ten configured symbols, simplified daily P&amp;L; FX, derivatives, fees, dividends and corporate actions are excluded.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Business value and measurable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02 |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4008" cy="129844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53896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Trade completeness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10512"/>
            <a:ext cx="4974336" cy="7772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Exact 14-column input contract; invalid file cannot replace the prior Bronze snapshot.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353312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353312"/>
            <a:ext cx="64008" cy="12984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1453896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Position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1810512"/>
            <a:ext cx="4974336" cy="7772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Daily signed quantities reconcile by date, book, counterparty and instrument.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026664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026664"/>
            <a:ext cx="64008" cy="129844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127248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P&amp;L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83864"/>
            <a:ext cx="4974336" cy="7772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Daily P&amp;L reconciles using approved inputs; missing required marks remain NULL with breaks.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026664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3026664"/>
            <a:ext cx="64008" cy="12984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3" y="3127248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Operational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3" y="3483864"/>
            <a:ext cx="4974336" cy="7772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Every task attempt is auditable; identical-input rerun preserves business outputs (proposed acceptance; rerun not verified).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749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Verified evidence: 2026-10-11 Databricks run had six successful tasks; 5,990 positions and 835 P&amp;L rows had zero reported independent SQL mismatches. This is one run, not a service-level commitment.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Stakeholder landscape and decision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03 |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3401568" cy="354787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64008" cy="35478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Business and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3118104" cy="3026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Sponsor: scope/capacity/go-no-go</a:t>
            </a:r>
            <a:br/>
            <a:br/>
            <a:r>
              <a:t>BA / Product Owner: requirements and acceptance</a:t>
            </a:r>
            <a:br/>
            <a:br/>
            <a:r>
              <a:t>Product Control: calculation and reconciliation approval</a:t>
            </a:r>
            <a:br/>
            <a:br/>
            <a:r>
              <a:t>Trading Operations: trade source and operating semantics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53312"/>
            <a:ext cx="3401568" cy="354787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53312"/>
            <a:ext cx="64008" cy="354787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Technology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10512"/>
            <a:ext cx="3118104" cy="3026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TPM: integrated plan, RAID, dependencies, governance</a:t>
            </a:r>
            <a:br/>
            <a:br/>
            <a:r>
              <a:t>Solution Architect: architecture and decisions</a:t>
            </a:r>
            <a:br/>
            <a:br/>
            <a:r>
              <a:t>Data Engineering: implementation and technical evidence</a:t>
            </a:r>
            <a:br/>
            <a:br/>
            <a:r>
              <a:t>QA: test evidence and defect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53312"/>
            <a:ext cx="3401568" cy="354787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53312"/>
            <a:ext cx="64008" cy="354787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Control /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810512"/>
            <a:ext cx="3118104" cy="3026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Information Security: access and policy review</a:t>
            </a:r>
            <a:br/>
            <a:br/>
            <a:r>
              <a:t>Production Support: monitoring, recovery and handover</a:t>
            </a:r>
            <a:br/>
            <a:br/>
            <a:r>
              <a:t>Market Data Owner: provider rights and service contract</a:t>
            </a:r>
            <a:br/>
            <a:br/>
            <a:r>
              <a:t>Named participants and approvals: NOT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30368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647786"/>
                </a:solidFill>
                <a:latin typeface="Aptos"/>
              </a:defRPr>
            </a:pPr>
            <a:r>
              <a:t>RACI is proposed for planning; role ownership must be confirmed at mobilisation.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Solution architecture | preserve the working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04 |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1993392" cy="1152144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44752"/>
            <a:ext cx="64008" cy="1152144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45336"/>
            <a:ext cx="171907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01952"/>
            <a:ext cx="1709928" cy="6309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Synthetic trade CSV</a:t>
            </a:r>
            <a:br/>
            <a:r>
              <a:t>Yahoo Finance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243584"/>
            <a:ext cx="2139696" cy="94183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1243584"/>
            <a:ext cx="64008" cy="9418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1344168"/>
            <a:ext cx="186537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Bronze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1700784"/>
            <a:ext cx="1856231" cy="4206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Raw Delta + lineage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2542032"/>
            <a:ext cx="2139696" cy="94183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542032"/>
            <a:ext cx="64008" cy="94183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2384" y="2642615"/>
            <a:ext cx="186537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2999232"/>
            <a:ext cx="1856231" cy="4206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Typed data + rejects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41264" y="1243584"/>
            <a:ext cx="2468880" cy="94183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41264" y="1243584"/>
            <a:ext cx="64008" cy="94183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5" y="1344168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Gold 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5" y="1700784"/>
            <a:ext cx="2185416" cy="4206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Daily inventory + 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41264" y="2542032"/>
            <a:ext cx="2468880" cy="94183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41264" y="2542032"/>
            <a:ext cx="64008" cy="94183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05855" y="2642615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Gold P&amp;L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5855" y="2999232"/>
            <a:ext cx="2185416" cy="4206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Daily result + breaks +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0496" y="1444752"/>
            <a:ext cx="2907792" cy="1152144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0496" y="1444752"/>
            <a:ext cx="64008" cy="1152144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1545336"/>
            <a:ext cx="263347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Consumers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1901952"/>
            <a:ext cx="2624328" cy="6309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Report notebook + SQL</a:t>
            </a:r>
            <a:br/>
            <a:r>
              <a:t>Dashboard: PLANNED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532888" y="1737360"/>
            <a:ext cx="329184" cy="27432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86784" y="2212848"/>
            <a:ext cx="0" cy="283464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111496" y="1719072"/>
            <a:ext cx="374904" cy="1298448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66560" y="2212848"/>
            <a:ext cx="0" cy="283464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074152" y="1993392"/>
            <a:ext cx="420624" cy="1014984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3232" y="4224528"/>
            <a:ext cx="1078992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0">
                <a:solidFill>
                  <a:srgbClr val="233746"/>
                </a:solidFill>
                <a:latin typeface="Aptos"/>
              </a:defRPr>
            </a:pPr>
            <a:r>
              <a:t>Orchestration: two independent source branches → Silver join at build_positions → calculate_daily_pnl. Databricks Workflow, Unity Catalog cibc and Asset Bundle dev target are implemented; production targets and security controls remain gated.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Requirements traceability | from outcome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04 |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08760"/>
            <a:ext cx="2176272" cy="132588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508760"/>
            <a:ext cx="64008" cy="13258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609344"/>
            <a:ext cx="190195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BR-005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965960"/>
            <a:ext cx="1892807" cy="804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Calculate daily position valuation and daily P&amp;L.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508760"/>
            <a:ext cx="2176272" cy="132588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508760"/>
            <a:ext cx="64008" cy="13258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1609344"/>
            <a:ext cx="190195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FR-008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1965960"/>
            <a:ext cx="1892807" cy="804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Calculate daily equity P&amp;L separating opening-position price movement from trade-day economics.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1508760"/>
            <a:ext cx="2176272" cy="132588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59552" y="1508760"/>
            <a:ext cx="64008" cy="13258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1609344"/>
            <a:ext cx="190195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TMP-018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1965960"/>
            <a:ext cx="1892807" cy="804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Calculate daily cash-equity mark-to-market P&amp;L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508760"/>
            <a:ext cx="2176272" cy="132588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1508760"/>
            <a:ext cx="64008" cy="13258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09344"/>
            <a:ext cx="190195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TC-006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65960"/>
            <a:ext cx="1892807" cy="804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Opening-position price move + trade-day cash-flow term; missing baseline/current close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24912" y="2167128"/>
            <a:ext cx="13716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04104" y="2167128"/>
            <a:ext cx="13716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83296" y="2167128"/>
            <a:ext cx="13716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4128" y="3493008"/>
            <a:ext cx="4572000" cy="118872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128" y="3493008"/>
            <a:ext cx="64008" cy="118872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3593591"/>
            <a:ext cx="4297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Acceptance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950208"/>
            <a:ext cx="4288536" cy="6675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Independent test examples match; activity quantity changes do not create false opening-position P&amp;L.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6248" y="3493008"/>
            <a:ext cx="4572000" cy="118872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56248" y="3493008"/>
            <a:ext cx="64008" cy="118872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593591"/>
            <a:ext cx="4297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950208"/>
            <a:ext cx="4288536" cy="6675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tests/test_daily_pnl.py; documented BOOK_TECH/AAPL hand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166360"/>
            <a:ext cx="10424160" cy="4937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The workbook traceability matrix covers all BR → FR → story → test/evidence mappings; IDs are shared with the 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Delivery strategy | capability-based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05 | DELIVERY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53312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353312"/>
            <a:ext cx="64008" cy="114300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453896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7 epics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810512"/>
            <a:ext cx="3099816" cy="6217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Outcome-oriented capabilities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53312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53312"/>
            <a:ext cx="64008" cy="114300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53896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24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10512"/>
            <a:ext cx="3099816" cy="6217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82 estimated points across current + proposed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353312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1353312"/>
            <a:ext cx="64008" cy="114300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453896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48 subtasks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810512"/>
            <a:ext cx="3099816" cy="6217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Specific evidence under each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852928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Delivery approach: clarify scope and acceptance → design/data contracts → build in parallel workstreams → verify with tests and reconciliation → release only after readiness gate.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70332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0">
                <a:solidFill>
                  <a:srgbClr val="233746"/>
                </a:solidFill>
                <a:latin typeface="Aptos"/>
              </a:defRPr>
            </a:pPr>
            <a:r>
              <a:t>8-week baseline: 38 SP planned against 40 assumed capacity (10 SP/sprint); 2 SP aggregate headroom, not a guaranteed reserve. Optional Sprint 5: 10 SP for data approval, price exception operations and dashboard.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709160"/>
            <a:ext cx="10515600" cy="7132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647786"/>
                </a:solidFill>
                <a:latin typeface="Aptos"/>
              </a:defRPr>
            </a:pPr>
            <a:r>
              <a:t>Current implementation stories retain evidence status. Their point values are reference estimates, not remaining-work effort or actual velocity.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Integrated delivery roadmap | relative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06 |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25296"/>
            <a:ext cx="2423160" cy="71323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225296"/>
            <a:ext cx="64008" cy="7132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25880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Weeks 1-2 | 9 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682496"/>
            <a:ext cx="2139696" cy="1920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M-01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1271016"/>
            <a:ext cx="30175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1">
                <a:solidFill>
                  <a:srgbClr val="16324F"/>
                </a:solidFill>
                <a:latin typeface="Aptos"/>
              </a:defRPr>
            </a:pPr>
            <a:r>
              <a:t>TMP-001; TMP-002; TMP-003; TMP-006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271016"/>
            <a:ext cx="46177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Baseline scope, requirements, NFRs, and trade source semantics; identify decision owners.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157984"/>
            <a:ext cx="2423160" cy="71323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2157984"/>
            <a:ext cx="64008" cy="7132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258568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Weeks 3-4 | 9 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615184"/>
            <a:ext cx="2139696" cy="1920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M-02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203704"/>
            <a:ext cx="30175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1">
                <a:solidFill>
                  <a:srgbClr val="16324F"/>
                </a:solidFill>
                <a:latin typeface="Aptos"/>
              </a:defRPr>
            </a:pPr>
            <a:r>
              <a:t>TMP-005; TMP-007; TMP-023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03704"/>
            <a:ext cx="46177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Close target access design, market-data decision, and controlled dev operating procedure.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090672"/>
            <a:ext cx="2423160" cy="71323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3090672"/>
            <a:ext cx="64008" cy="7132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191256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Weeks 5-6 | 10 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547872"/>
            <a:ext cx="2139696" cy="1920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M-03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136391"/>
            <a:ext cx="30175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1">
                <a:solidFill>
                  <a:srgbClr val="16324F"/>
                </a:solidFill>
                <a:latin typeface="Aptos"/>
              </a:defRPr>
            </a:pPr>
            <a:r>
              <a:t>TMP-010; TMP-012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36391"/>
            <a:ext cx="46177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Establish reviewed CI/deployment controls and resolve trade snapshot correction behavior.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023360"/>
            <a:ext cx="2423160" cy="71323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4023360"/>
            <a:ext cx="64008" cy="7132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123944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Weeks 7-8 | 10 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480560"/>
            <a:ext cx="2139696" cy="1920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M-04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4069080"/>
            <a:ext cx="30175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1">
                <a:solidFill>
                  <a:srgbClr val="16324F"/>
                </a:solidFill>
                <a:latin typeface="Aptos"/>
              </a:defRPr>
            </a:pPr>
            <a:r>
              <a:t>TMP-016; TMP-021; TMP-022; TMP-024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069080"/>
            <a:ext cx="46177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Close test failures, supported-runtime rerun/reconciliation, and operational handover.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956048"/>
            <a:ext cx="2423160" cy="71323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" y="4956048"/>
            <a:ext cx="64008" cy="71323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056632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Weeks 9-10 (follow-on; not in 8-week baseline) | 10 SP | optional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413248"/>
            <a:ext cx="2139696" cy="1920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M-05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5001768"/>
            <a:ext cx="30175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1">
                <a:solidFill>
                  <a:srgbClr val="16324F"/>
                </a:solidFill>
                <a:latin typeface="Aptos"/>
              </a:defRPr>
            </a:pPr>
            <a:r>
              <a:t>TMP-008; TMP-014; TMP-020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01768"/>
            <a:ext cx="4617720" cy="6126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Complete follow-on data approval, missing-price operations, dictionary approval, and dashboard MVP if authorized.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989320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647786"/>
                </a:solidFill>
                <a:latin typeface="Aptos"/>
              </a:defRPr>
            </a:pPr>
            <a:r>
              <a:t>Baseline: 38/40 SP; 2 SP headroom. Optional Sprint 5 is follow-on, not contingency capacity committed to this baseline. Relative weeks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Dependency drivers and delivery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07 | DEPENDENCY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212080" cy="118872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64008" cy="118872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72184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Trade workstream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28800"/>
            <a:ext cx="4928616" cy="6675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Source contract → Bronze snapshot → Silver version/correction rules → positions → P&amp;L reconciliation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371600"/>
            <a:ext cx="5212080" cy="118872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371600"/>
            <a:ext cx="64008" cy="118872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72184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Price workstream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928616" cy="6675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Provider decision → Bronze prices → Silver completeness → position valuation / P&amp;L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88736" y="1965960"/>
            <a:ext cx="36576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03120" y="3090672"/>
            <a:ext cx="7818120" cy="111556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03120" y="3090672"/>
            <a:ext cx="64008" cy="111556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191256"/>
            <a:ext cx="75438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Join and release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547872"/>
            <a:ext cx="7534656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Both Silver outputs → positions → P&amp;L → supported-runtime tests / reconciliation → UAT →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681728"/>
            <a:ext cx="10424160" cy="10058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A94442"/>
                </a:solidFill>
                <a:latin typeface="Aptos"/>
              </a:defRPr>
            </a:pPr>
            <a:r>
              <a:t>Dependency-led candidate sequence only; not a CPM-calculated critical path. Story-point estimates and sprint timeboxes do not provide activity durations, resource leveling, or float.</a:t>
            </a:r>
            <a:br/>
            <a:br/>
            <a:r>
              <a:t>External constraints: market-data rights, source-owner decisions, Spark/Delta test access, Security review, Product Control sign-off, and support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Risk and governance | proportionate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08 | RISK AND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25296"/>
            <a:ext cx="283464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C8752D"/>
                </a:solidFill>
                <a:latin typeface="Aptos"/>
              </a:defRPr>
            </a:pPr>
            <a:r>
              <a:t>R-01 | High /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225296"/>
            <a:ext cx="7955279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Yahoo Finance is not established as an approved or licensed institutional market-data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283464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C8752D"/>
                </a:solidFill>
                <a:latin typeface="Aptos"/>
              </a:defRPr>
            </a:pPr>
            <a:r>
              <a:t>R-02 | Medium /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75104"/>
            <a:ext cx="7955279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Full-snapshot trade Bronze can leave stale Silver trades when trade IDs disappear from later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24912"/>
            <a:ext cx="283464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C8752D"/>
                </a:solidFill>
                <a:latin typeface="Aptos"/>
              </a:defRPr>
            </a:pPr>
            <a:r>
              <a:t>R-03 | Medium /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24912"/>
            <a:ext cx="7955279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Full-history recomputation and free-form instrument/book data may not scale or satisfy control expectations.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74720"/>
            <a:ext cx="283464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C8752D"/>
                </a:solidFill>
                <a:latin typeface="Aptos"/>
              </a:defRPr>
            </a:pPr>
            <a:r>
              <a:t>R-04 | Medium /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74720"/>
            <a:ext cx="7955279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Eight-week plan has no capacity reserve and depends on part-time approvers and test runtime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89120"/>
            <a:ext cx="5257800" cy="107899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389120"/>
            <a:ext cx="64008" cy="107899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89704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Cadence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846320"/>
            <a:ext cx="497433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Daily engineering stand-up; weekly workstream + RAID; design/security reviews at gates; biweekly steering; milestone and release-readiness approvals.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389120"/>
            <a:ext cx="5257800" cy="107899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4389120"/>
            <a:ext cx="64008" cy="107899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489704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846320"/>
            <a:ext cx="497433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Trigger/owner/date in RAID; unresolved delivery blocker → TPM; business/scope trade-off → Sponsor; policy/security/data rights → accountable control owner.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Testing and release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09 | TEST AND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35024"/>
            <a:ext cx="3401568" cy="345643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35024"/>
            <a:ext cx="64008" cy="34564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35608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Test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92224"/>
            <a:ext cx="3118104" cy="29352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Unit and schema tests</a:t>
            </a:r>
            <a:br/>
            <a:br/>
            <a:r>
              <a:t>Data-quality/reject tests</a:t>
            </a:r>
            <a:br/>
            <a:br/>
            <a:r>
              <a:t>Position and P&amp;L reconciliation</a:t>
            </a:r>
            <a:br/>
            <a:br/>
            <a:r>
              <a:t>Same-input idempotency + failure recovery</a:t>
            </a:r>
            <a:br/>
            <a:br/>
            <a:r>
              <a:t>UAT and deployment smoke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35024"/>
            <a:ext cx="3401568" cy="345643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35024"/>
            <a:ext cx="64008" cy="345643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35608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Known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92224"/>
            <a:ext cx="3118104" cy="29352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2026-10-11: six tasks succeeded; 5,990 positions and 835 P&amp;L rows had zero reported mismatches</a:t>
            </a:r>
            <a:br/>
            <a:br/>
            <a:r>
              <a:t>3 focused tests fail on removed DDL file references</a:t>
            </a:r>
            <a:br/>
            <a:br/>
            <a:r>
              <a:t>Same-input second Job run: NOT 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35024"/>
            <a:ext cx="3401568" cy="345643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35024"/>
            <a:ext cx="64008" cy="345643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435608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No-go until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792224"/>
            <a:ext cx="3118104" cy="29352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Supported Spark/Delta tests pass or disposition is approved</a:t>
            </a:r>
            <a:br/>
            <a:br/>
            <a:r>
              <a:t>Product Control accepts results</a:t>
            </a:r>
            <a:br/>
            <a:br/>
            <a:r>
              <a:t>Least privilege, alerts, recovery and support proven</a:t>
            </a:r>
            <a:br/>
            <a:br/>
            <a:r>
              <a:t>Source rights/retention/release owner approved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184648"/>
            <a:ext cx="10698480" cy="4754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A94442"/>
                </a:solidFill>
                <a:latin typeface="Aptos"/>
              </a:defRPr>
            </a:pPr>
            <a:r>
              <a:t>No CI workflow, production Bundle target, automated alerting, or schedule activation is evidenced in this repository.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Project status | what is and is not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10 |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64008" cy="182880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IMPLEMENTED 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3118104" cy="1307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TMP-004 Document and validate existing solution architecture; TMP-009 Maintain reproducible Databricks Asset Bundle development deployment; TMP-011 Ingest synthetic trade snapshot into Bronze; TMP-013 Ingest and retain daily market-price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53312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53312"/>
            <a:ext cx="64008" cy="182880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PARTIALLY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10512"/>
            <a:ext cx="3118104" cy="1307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TMP-001 PARTIALLY IMPLEMENTED; TMP-006 PARTIALLY IMPLEMENTED; TMP-021 PARTIALLY IMPLEMENTED; TMP-022 PARTIALLY IMPLEMENTED; TMP-023 PARTIALLY 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53312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F8E8E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53312"/>
            <a:ext cx="64008" cy="1828800"/>
          </a:xfrm>
          <a:prstGeom prst="rect">
            <a:avLst/>
          </a:prstGeom>
          <a:solidFill>
            <a:srgbClr val="A94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PLANNED / BLOCKED / NOT 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810512"/>
            <a:ext cx="3118104" cy="1307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TMP-002 PLANNED; TMP-003 PLANNED; TMP-005 PLANNED; TMP-007 PLANNED; TMP-008 NOT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803904"/>
            <a:ext cx="10607040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Overall status: AMBER for a demonstrated proof of concept; NOT VERIFIED for the proposed schedule, named resources, and enterprise readiness. Quality has known focused test failures.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80974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647786"/>
                </a:solidFill>
                <a:latin typeface="Aptos"/>
              </a:defRPr>
            </a:pPr>
            <a:r>
              <a:t>Evidence baseline: repository and docs/test_results.md dated 2026-10-11; this plan is dated 2026-10-14.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504688"/>
            <a:ext cx="1060704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1">
                <a:solidFill>
                  <a:srgbClr val="647786"/>
                </a:solidFill>
                <a:latin typeface="Aptos"/>
              </a:defRPr>
            </a:pPr>
            <a:r>
              <a:t>Master backlog status example: TMP-016: PLANNED; TMP-018: IMPLEMENTED; TMP-022: PARTIALLY IMPLEMENTED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Outcomes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11 |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3401568" cy="2139696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64008" cy="2139696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3118104" cy="16184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End-to-end Medallion path, auditable tasks, reject handling, position/P&amp;L calculations, and independent SQL reconciliation for one documented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53312"/>
            <a:ext cx="3401568" cy="2139696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53312"/>
            <a:ext cx="64008" cy="2139696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Leadership lessons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10512"/>
            <a:ext cx="3118104" cy="16184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Make source ownership explicit; protect financial acceptance; plan dependencies before sprint commitments; surface test gaps early; separate prototype evidence from production claims.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53312"/>
            <a:ext cx="3401568" cy="2139696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53312"/>
            <a:ext cx="64008" cy="2139696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453896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Immediate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810512"/>
            <a:ext cx="3118104" cy="16184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Name decision owners; approve trade/price contracts; provision test runtime; close stale tests; confirm methodology; retain optional scope until capacity and audience are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41648"/>
            <a:ext cx="10607040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Production-readiness roadmap: source and rights → access/security → CI and repeatable deployment → test/reconciliation and UAT → monitoring/recovery and support → explicit release approval.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74920"/>
            <a:ext cx="10607040" cy="6035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A94442"/>
                </a:solidFill>
                <a:latin typeface="Aptos"/>
              </a:defRPr>
            </a:pPr>
            <a:r>
              <a:t>Keep the scheduled Job paused unless a separate readiness review approves activation.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Integrated Project Delivery Plan — Timeline &amp;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12 | INTEGRATED 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097280"/>
            <a:ext cx="6675120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50" b="1">
                <a:solidFill>
                  <a:srgbClr val="C8752D"/>
                </a:solidFill>
                <a:latin typeface="Aptos"/>
              </a:defRPr>
            </a:pPr>
            <a:r>
              <a:t>KEY DELIVERY DEPENDENCIES — ILLUSTRATIVE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97280"/>
            <a:ext cx="4343400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850" b="0">
                <a:solidFill>
                  <a:srgbClr val="647786"/>
                </a:solidFill>
                <a:latin typeface="Aptos"/>
              </a:defRPr>
            </a:pPr>
            <a:r>
              <a:t>Relative weeks; no kickoff date supplied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53312"/>
            <a:ext cx="438912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647786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353312"/>
            <a:ext cx="1307592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647786"/>
                </a:solidFill>
                <a:latin typeface="Aptos"/>
              </a:defRPr>
            </a:pPr>
            <a:r>
              <a:t>WORKSTREAM /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353312"/>
            <a:ext cx="393192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647786"/>
                </a:solidFill>
                <a:latin typeface="Aptos"/>
              </a:defRPr>
            </a:pPr>
            <a:r>
              <a:t>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1353312"/>
            <a:ext cx="987552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647786"/>
                </a:solidFill>
                <a:latin typeface="Aptos"/>
              </a:defRPr>
            </a:pPr>
            <a:r>
              <a:t>PREDECESSORS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1353312"/>
            <a:ext cx="310896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647786"/>
                </a:solidFill>
                <a:latin typeface="Aptos"/>
              </a:defRPr>
            </a:pPr>
            <a:r>
              <a:t>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353312"/>
            <a:ext cx="932688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64778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38928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8172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8172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57416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57416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66660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66660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75904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75904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85148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85148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994392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94392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803636" y="1353312"/>
            <a:ext cx="809244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800" b="1">
                <a:solidFill>
                  <a:srgbClr val="16324F"/>
                </a:solidFill>
                <a:latin typeface="Aptos"/>
              </a:defRPr>
            </a:pPr>
            <a:r>
              <a:t>WEEK 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803636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612880" y="1627632"/>
            <a:ext cx="0" cy="3707892"/>
          </a:xfrm>
          <a:prstGeom prst="line">
            <a:avLst/>
          </a:prstGeom>
          <a:ln w="6985">
            <a:solidFill>
              <a:srgbClr val="D7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3192" y="1700784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1687068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Requirements and 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9424" y="1700784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8336" y="1700784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2463" y="1700784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6512" y="1700784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2C6E9B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1788" y="1746504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1788" y="1732788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7 SP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5760" y="1997964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65760" y="1997964"/>
            <a:ext cx="11283696" cy="333756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2034540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" y="2020824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Trade source 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9424" y="2034540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88336" y="2034540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12463" y="2034540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6512" y="2034540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2C6E9B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61788" y="2080260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1788" y="2066544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2 SP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65760" y="2331720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93192" y="2368296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" y="2354579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Security and environment design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9424" y="2368296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88336" y="2368296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W01/TMP-004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12463" y="2368296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96512" y="2368296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647786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80276" y="2414015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80276" y="2400300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 SP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65760" y="2665476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365760" y="2665476"/>
            <a:ext cx="11283696" cy="333756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" y="2702052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" y="2688336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Market-data provider decision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9424" y="2702052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88336" y="2702052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W01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12463" y="2702052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96512" y="2702052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647786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80276" y="2747772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80276" y="2734056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 SP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65760" y="2999232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93192" y="3035808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" y="3022092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Workflow and schedule gate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49424" y="3035808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88336" y="3035808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TMP-009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12463" y="3035808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96512" y="3035808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2C6E9B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780276" y="3081528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80276" y="3067812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 SP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65760" y="3332988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65760" y="3332988"/>
            <a:ext cx="11283696" cy="333756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192" y="3369564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7824" y="3355848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CI/CD promotion controls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49424" y="3369564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88336" y="3369564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W03/TMP-009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12463" y="3369564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96512" y="3369564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647786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398764" y="3415284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98764" y="3401568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5 SP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65760" y="3666744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93192" y="3703320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7824" y="3689604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Trade correction and history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9424" y="3703320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88336" y="3703320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W02/TMP-011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12463" y="3703320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96512" y="3703320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647786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98764" y="3749039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98764" y="3735324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5 SP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65760" y="4000500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365760" y="4000500"/>
            <a:ext cx="11283696" cy="333756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93192" y="4037076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7824" y="4023360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Spark/Delta rerun validation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49424" y="4037076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88336" y="4037076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TMP-015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12463" y="4037076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96512" y="4037076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647786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017252" y="4082796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17252" y="4069080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2 SP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65760" y="4334256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93192" y="4370832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WS-09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7824" y="4357116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Test maintenance and QA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249424" y="4370832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88336" y="4370832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12463" y="4370832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96512" y="4370832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2C6E9B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017252" y="4416552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17252" y="4402836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 SP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65760" y="4668012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365760" y="4668012"/>
            <a:ext cx="11283696" cy="333756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93192" y="4704588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77824" y="4690872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Reconciliation and UAT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49424" y="4704588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88336" y="4704588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W08/TMP-018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12463" y="4704588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96512" y="4704588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2C6E9B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017252" y="4750308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017252" y="4736592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2 SP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365760" y="5001768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93192" y="5038344"/>
            <a:ext cx="43891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50" b="1">
                <a:solidFill>
                  <a:srgbClr val="16324F"/>
                </a:solidFill>
                <a:latin typeface="Aptos"/>
              </a:defRPr>
            </a:pPr>
            <a:r>
              <a:t>WS-11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77824" y="5024628"/>
            <a:ext cx="1307592" cy="26517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233746"/>
                </a:solidFill>
                <a:latin typeface="Aptos"/>
              </a:defRPr>
            </a:pPr>
            <a:r>
              <a:t>Operations handover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249424" y="5038344"/>
            <a:ext cx="39319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0">
                <a:solidFill>
                  <a:srgbClr val="647786"/>
                </a:solidFill>
                <a:latin typeface="Aptos"/>
              </a:defRPr>
            </a:pPr>
            <a:r>
              <a:t>2w*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88336" y="5038344"/>
            <a:ext cx="987552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0">
                <a:solidFill>
                  <a:srgbClr val="647786"/>
                </a:solidFill>
                <a:latin typeface="Aptos"/>
              </a:defRPr>
            </a:pPr>
            <a:r>
              <a:t>W01/W05/W10/TMP-019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712463" y="5038344"/>
            <a:ext cx="310896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96512" y="5038344"/>
            <a:ext cx="93268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1">
                <a:solidFill>
                  <a:srgbClr val="647786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017252" y="5084064"/>
            <a:ext cx="1572768" cy="173736"/>
          </a:xfrm>
          <a:prstGeom prst="roundRect">
            <a:avLst>
              <a:gd name="adj" fmla="val 8000"/>
            </a:avLst>
          </a:prstGeom>
          <a:solidFill>
            <a:srgbClr val="D8DEE3"/>
          </a:solidFill>
          <a:ln w="5715">
            <a:solidFill>
              <a:srgbClr val="AA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17252" y="5070348"/>
            <a:ext cx="1572768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50" b="1">
                <a:solidFill>
                  <a:srgbClr val="16324F"/>
                </a:solidFill>
                <a:latin typeface="Aptos"/>
              </a:defRPr>
            </a:pPr>
            <a:r>
              <a:t>3 SP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365760" y="5335524"/>
            <a:ext cx="11283696" cy="0"/>
          </a:xfrm>
          <a:prstGeom prst="line">
            <a:avLst/>
          </a:prstGeom>
          <a:ln w="5080">
            <a:solidFill>
              <a:srgbClr val="E6EB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757416" y="1831086"/>
            <a:ext cx="0" cy="667512"/>
          </a:xfrm>
          <a:prstGeom prst="line">
            <a:avLst/>
          </a:prstGeom>
          <a:ln w="1397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757416" y="1831086"/>
            <a:ext cx="0" cy="1001268"/>
          </a:xfrm>
          <a:prstGeom prst="line">
            <a:avLst/>
          </a:prstGeom>
          <a:ln w="1397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375904" y="2498598"/>
            <a:ext cx="0" cy="1001268"/>
          </a:xfrm>
          <a:prstGeom prst="line">
            <a:avLst/>
          </a:prstGeom>
          <a:ln w="1397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Diamond 139"/>
          <p:cNvSpPr/>
          <p:nvPr/>
        </p:nvSpPr>
        <p:spPr>
          <a:xfrm>
            <a:off x="6688836" y="5445252"/>
            <a:ext cx="137160" cy="137160"/>
          </a:xfrm>
          <a:prstGeom prst="diamond">
            <a:avLst/>
          </a:prstGeom>
          <a:solidFill>
            <a:srgbClr val="C8752D"/>
          </a:solidFill>
          <a:ln>
            <a:solidFill>
              <a:srgbClr val="C87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501384" y="5573268"/>
            <a:ext cx="512064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00" b="1">
                <a:solidFill>
                  <a:srgbClr val="16324F"/>
                </a:solidFill>
                <a:latin typeface="Aptos"/>
              </a:defRPr>
            </a:pPr>
            <a:r>
              <a:t>M-01</a:t>
            </a:r>
          </a:p>
        </p:txBody>
      </p:sp>
      <p:sp>
        <p:nvSpPr>
          <p:cNvPr id="142" name="Diamond 141"/>
          <p:cNvSpPr/>
          <p:nvPr/>
        </p:nvSpPr>
        <p:spPr>
          <a:xfrm>
            <a:off x="8307324" y="5445252"/>
            <a:ext cx="137160" cy="137160"/>
          </a:xfrm>
          <a:prstGeom prst="diamond">
            <a:avLst/>
          </a:prstGeom>
          <a:solidFill>
            <a:srgbClr val="C8752D"/>
          </a:solidFill>
          <a:ln>
            <a:solidFill>
              <a:srgbClr val="C87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119872" y="5573268"/>
            <a:ext cx="512064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00" b="1">
                <a:solidFill>
                  <a:srgbClr val="16324F"/>
                </a:solidFill>
                <a:latin typeface="Aptos"/>
              </a:defRPr>
            </a:pPr>
            <a:r>
              <a:t>M-02</a:t>
            </a:r>
          </a:p>
        </p:txBody>
      </p:sp>
      <p:sp>
        <p:nvSpPr>
          <p:cNvPr id="144" name="Diamond 143"/>
          <p:cNvSpPr/>
          <p:nvPr/>
        </p:nvSpPr>
        <p:spPr>
          <a:xfrm>
            <a:off x="9925812" y="5445252"/>
            <a:ext cx="137160" cy="137160"/>
          </a:xfrm>
          <a:prstGeom prst="diamond">
            <a:avLst/>
          </a:prstGeom>
          <a:solidFill>
            <a:srgbClr val="C8752D"/>
          </a:solidFill>
          <a:ln>
            <a:solidFill>
              <a:srgbClr val="C87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738360" y="5573268"/>
            <a:ext cx="512064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00" b="1">
                <a:solidFill>
                  <a:srgbClr val="16324F"/>
                </a:solidFill>
                <a:latin typeface="Aptos"/>
              </a:defRPr>
            </a:pPr>
            <a:r>
              <a:t>M-03</a:t>
            </a:r>
          </a:p>
        </p:txBody>
      </p:sp>
      <p:sp>
        <p:nvSpPr>
          <p:cNvPr id="146" name="Diamond 145"/>
          <p:cNvSpPr/>
          <p:nvPr/>
        </p:nvSpPr>
        <p:spPr>
          <a:xfrm>
            <a:off x="11544300" y="5445252"/>
            <a:ext cx="137160" cy="137160"/>
          </a:xfrm>
          <a:prstGeom prst="diamond">
            <a:avLst/>
          </a:prstGeom>
          <a:solidFill>
            <a:srgbClr val="C8752D"/>
          </a:solidFill>
          <a:ln>
            <a:solidFill>
              <a:srgbClr val="C87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1356848" y="5573268"/>
            <a:ext cx="512064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700" b="1">
                <a:solidFill>
                  <a:srgbClr val="16324F"/>
                </a:solidFill>
                <a:latin typeface="Aptos"/>
              </a:defRPr>
            </a:pPr>
            <a:r>
              <a:t>M-04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75488" y="5852159"/>
            <a:ext cx="146304" cy="118872"/>
          </a:xfrm>
          <a:prstGeom prst="rect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76656" y="5833872"/>
            <a:ext cx="192024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0">
                <a:solidFill>
                  <a:srgbClr val="233746"/>
                </a:solidFill>
                <a:latin typeface="Aptos"/>
              </a:defRPr>
            </a:pPr>
            <a:r>
              <a:t>Implemented evidence (current, undated)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651760" y="5852159"/>
            <a:ext cx="146304" cy="118872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852928" y="5833872"/>
            <a:ext cx="192024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0">
                <a:solidFill>
                  <a:srgbClr val="233746"/>
                </a:solidFill>
                <a:latin typeface="Aptos"/>
              </a:defRPr>
            </a:pPr>
            <a:r>
              <a:t>Partially implemented evidence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846320" y="5852159"/>
            <a:ext cx="146304" cy="118872"/>
          </a:xfrm>
          <a:prstGeom prst="rect">
            <a:avLst/>
          </a:prstGeom>
          <a:solidFill>
            <a:srgbClr val="D8DEE3"/>
          </a:solidFill>
          <a:ln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47488" y="5833872"/>
            <a:ext cx="17830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0">
                <a:solidFill>
                  <a:srgbClr val="233746"/>
                </a:solidFill>
                <a:latin typeface="Aptos"/>
              </a:defRPr>
            </a:pPr>
            <a:r>
              <a:t>Planned sprint window</a:t>
            </a:r>
          </a:p>
        </p:txBody>
      </p:sp>
      <p:sp>
        <p:nvSpPr>
          <p:cNvPr id="154" name="Diamond 153"/>
          <p:cNvSpPr/>
          <p:nvPr/>
        </p:nvSpPr>
        <p:spPr>
          <a:xfrm>
            <a:off x="6903720" y="5843016"/>
            <a:ext cx="137160" cy="137160"/>
          </a:xfrm>
          <a:prstGeom prst="diamond">
            <a:avLst/>
          </a:prstGeom>
          <a:solidFill>
            <a:srgbClr val="C8752D"/>
          </a:solidFill>
          <a:ln>
            <a:solidFill>
              <a:srgbClr val="C87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104888" y="5833872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30" b="0">
                <a:solidFill>
                  <a:srgbClr val="233746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165592" y="5843016"/>
            <a:ext cx="274320" cy="137160"/>
          </a:xfrm>
          <a:prstGeom prst="rect">
            <a:avLst/>
          </a:prstGeom>
          <a:solidFill>
            <a:srgbClr val="FFFFFF"/>
          </a:solidFill>
          <a:ln w="13970">
            <a:solidFill>
              <a:srgbClr val="A9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531352" y="5824728"/>
            <a:ext cx="3063240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10" b="1">
                <a:solidFill>
                  <a:srgbClr val="A94442"/>
                </a:solidFill>
                <a:latin typeface="Aptos"/>
              </a:defRPr>
            </a:pPr>
            <a:r>
              <a:t>Zero-float CPM critical path: none calculated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5488" y="6099048"/>
            <a:ext cx="11064240" cy="2377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* Bars show two-week sprint allocation windows, not task durations. M-05 and the blocked dashboard are optional Week 9-10 follow-on; not on this 8-week axis.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Detailed Dependencies &amp; Critical-Path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13 | DEPENDENCY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097280"/>
            <a:ext cx="6858000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C8752D"/>
                </a:solidFill>
                <a:latin typeface="Aptos"/>
              </a:defRPr>
            </a:pPr>
            <a:r>
              <a:t>KEY DELIVERY DEPENDENCIES — ILLUSTRATIVE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97280"/>
            <a:ext cx="4023360" cy="2194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850" b="1">
                <a:solidFill>
                  <a:srgbClr val="A94442"/>
                </a:solidFill>
                <a:latin typeface="Aptos"/>
              </a:defRPr>
            </a:pPr>
            <a:r>
              <a:t>CPM dates and float are not calculated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563624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WS-01 Requirements and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192024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TMP-001; TMP-002; TMP-003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146304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58568" y="146304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1563624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WS-03 Security and environment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192024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14215" y="146304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4215" y="146304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7" y="1563624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WS-06 CI/CD promotion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7" y="192024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47672" y="1801368"/>
            <a:ext cx="265176" cy="0"/>
          </a:xfrm>
          <a:prstGeom prst="line">
            <a:avLst/>
          </a:prstGeom>
          <a:ln w="1524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03320" y="1801368"/>
            <a:ext cx="265176" cy="0"/>
          </a:xfrm>
          <a:prstGeom prst="line">
            <a:avLst/>
          </a:prstGeom>
          <a:ln w="1524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233172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33172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432303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WS-02 Trade source 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78892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58568" y="233172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58568" y="233172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2432303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WS-07 Trade correction and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278892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47672" y="2670048"/>
            <a:ext cx="265176" cy="0"/>
          </a:xfrm>
          <a:prstGeom prst="line">
            <a:avLst/>
          </a:prstGeom>
          <a:ln w="1524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320040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200400"/>
            <a:ext cx="64008" cy="66751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3300984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Current Silver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365760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58568" y="320040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58568" y="320040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3300984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WS-08 Spark/Delta rerun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65760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TMP-016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14215" y="320040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14215" y="320040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78807" y="3300984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WS-10 Reconciliation and UAT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7" y="365760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TMP-022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9864" y="3200400"/>
            <a:ext cx="1426464" cy="66751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9864" y="3200400"/>
            <a:ext cx="64008" cy="66751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34455" y="3300984"/>
            <a:ext cx="115214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19" b="1">
                <a:solidFill>
                  <a:srgbClr val="16324F"/>
                </a:solidFill>
                <a:latin typeface="Aptos"/>
              </a:defRPr>
            </a:pPr>
            <a:r>
              <a:t>WS-11 Operations handover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5" y="3657600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0">
                <a:solidFill>
                  <a:srgbClr val="233746"/>
                </a:solidFill>
                <a:latin typeface="Aptos"/>
              </a:defRPr>
            </a:pPr>
            <a:r>
              <a:t>TMP-024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47672" y="3538728"/>
            <a:ext cx="265176" cy="0"/>
          </a:xfrm>
          <a:prstGeom prst="line">
            <a:avLst/>
          </a:prstGeom>
          <a:ln w="1524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703320" y="3538728"/>
            <a:ext cx="265176" cy="0"/>
          </a:xfrm>
          <a:prstGeom prst="line">
            <a:avLst/>
          </a:prstGeom>
          <a:ln w="1524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458968" y="3538728"/>
            <a:ext cx="265176" cy="0"/>
          </a:xfrm>
          <a:prstGeom prst="line">
            <a:avLst/>
          </a:prstGeom>
          <a:ln w="1524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516368" y="1408176"/>
            <a:ext cx="4096512" cy="193852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16368" y="1408176"/>
            <a:ext cx="64008" cy="193852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1508760"/>
            <a:ext cx="38221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CPM status: NOT CALCULATED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1865376"/>
            <a:ext cx="3813048" cy="1417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50" b="0">
                <a:solidFill>
                  <a:srgbClr val="233746"/>
                </a:solidFill>
                <a:latin typeface="Aptos"/>
              </a:defRPr>
            </a:pPr>
            <a:r>
              <a:t>Earliest start / finish: NOT AVAILABLE</a:t>
            </a:r>
            <a:br/>
            <a:r>
              <a:t>Latest start / finish: NOT AVAILABLE</a:t>
            </a:r>
            <a:br/>
            <a:r>
              <a:t>Total float: NOT AVAILABLE</a:t>
            </a:r>
            <a:br/>
            <a:br/>
            <a:r>
              <a:t>The repository has story points and sprint windows, not activity-level elapsed durations, a kickoff calendar, resource leveling, or approved lag/constraint data. No activity is outlined as critical.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16368" y="3493008"/>
            <a:ext cx="4096512" cy="102412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6368" y="3493008"/>
            <a:ext cx="64008" cy="102412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3593591"/>
            <a:ext cx="38221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Milestone impact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950208"/>
            <a:ext cx="3813048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69" b="0">
                <a:solidFill>
                  <a:srgbClr val="233746"/>
                </a:solidFill>
                <a:latin typeface="Aptos"/>
              </a:defRPr>
            </a:pPr>
            <a:r>
              <a:t>M-01 W2: requirements / trade contract</a:t>
            </a:r>
            <a:br/>
            <a:r>
              <a:t>M-02 W4: source / access decisions</a:t>
            </a:r>
            <a:br/>
            <a:r>
              <a:t>M-03 W6: controls / trade history</a:t>
            </a:r>
            <a:br/>
            <a:r>
              <a:t>M-04 W8: test, reconciliation and handover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4187952"/>
            <a:ext cx="68122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60" b="1">
                <a:solidFill>
                  <a:srgbClr val="16324F"/>
                </a:solidFill>
                <a:latin typeface="Aptos"/>
              </a:defRPr>
            </a:pPr>
            <a:r>
              <a:t>Detailed predecessor register (FS = finish-to-start; current prerequisites are undated)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407408"/>
            <a:ext cx="2788920" cy="1737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1">
                <a:solidFill>
                  <a:srgbClr val="647786"/>
                </a:solidFill>
                <a:latin typeface="Aptos"/>
              </a:defRPr>
            </a:pPr>
            <a:r>
              <a:t>PREDECESSOR STORY IDs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9000" y="4407408"/>
            <a:ext cx="1719072" cy="1737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1">
                <a:solidFill>
                  <a:srgbClr val="647786"/>
                </a:solidFill>
                <a:latin typeface="Aptos"/>
              </a:defRPr>
            </a:pPr>
            <a:r>
              <a:t>SUCCESSOR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4407408"/>
            <a:ext cx="1965960" cy="1737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20" b="1">
                <a:solidFill>
                  <a:srgbClr val="647786"/>
                </a:solidFill>
                <a:latin typeface="Aptos"/>
              </a:defRPr>
            </a:pPr>
            <a:r>
              <a:t>MILESTONE IMPACT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608576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TMP-001; TMP-002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0" y="4608576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TMP-001; TMP-002; TMP-003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4608576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M-01 End Week 2 — Scope, requirements and trade contract baseline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" y="4759452"/>
            <a:ext cx="6784848" cy="16459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773168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TMP-002; TMP-003; current TMP-004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29000" y="4773168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4773168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M-02 End Week 4 — Source and access design gate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4937760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TMP-002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9000" y="4937760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TMP-007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0" y="4937760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M-02 End Week 4 — Source and access design gate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2064" y="5088636"/>
            <a:ext cx="6784848" cy="16459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102352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current TMP-009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29000" y="5102352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12080" y="5102352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M-02 End Week 4 — Source and access design gate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266944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TMP-005; current TMP-009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29000" y="5266944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12080" y="5266944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M-03 End Week 6 — Engineering controls and trade-history gate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2064" y="5417820"/>
            <a:ext cx="6784848" cy="16459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5431536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TMP-006; current TMP-011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29000" y="5431536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431536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M-03 End Week 6 — Engineering controls and trade-history gate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5596128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current TMP-015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596128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TMP-016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12080" y="5596128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M-04 End Week 8 — Prototype acceptance and handover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" y="5747004"/>
            <a:ext cx="6784848" cy="16459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5760720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TMP-016; current TMP-018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29000" y="5760720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80" y="5760720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M-04 End Week 8 — Prototype acceptance and handover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5925312"/>
            <a:ext cx="278892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TMP-003; current TMP-019; TMP-022; TMP-023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29000" y="5925312"/>
            <a:ext cx="1719072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1">
                <a:solidFill>
                  <a:srgbClr val="233746"/>
                </a:solidFill>
                <a:latin typeface="Aptos"/>
              </a:defRPr>
            </a:pPr>
            <a:r>
              <a:t>TMP-024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12080" y="5925312"/>
            <a:ext cx="1965960" cy="14630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680" b="0">
                <a:solidFill>
                  <a:srgbClr val="233746"/>
                </a:solidFill>
                <a:latin typeface="Aptos"/>
              </a:defRPr>
            </a:pPr>
            <a:r>
              <a:t>M-04 End Week 8 — Prototype acceptance and handover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6144768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760" b="1">
                <a:solidFill>
                  <a:srgbClr val="A94442"/>
                </a:solidFill>
                <a:latin typeface="Aptos"/>
              </a:defRPr>
            </a:pPr>
            <a:r>
              <a:t>CPM inputs required: task durations, calendar start, complete lag-aware dependencies, and resource constraints. Optional Sprint 5 predecessors remain in the workbook/Jira register.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Evidence-based Databricks trading platform delivery plan</dc:subject>
  <dc:creator>Project Delivery Planning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