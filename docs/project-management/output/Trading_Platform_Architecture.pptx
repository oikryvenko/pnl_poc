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frame this as an evidence-led proof of concept and proposed enterprise delivery plan. Avoid implying Morgan Stanley sponsorship, production use, approvals, or outcomes not evidenced.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lead with the business outcome and boundaries. Separate a demonstrated calculation from institutional data rights, control sign-off, and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identify owners and service contracts as dependencies. Explain that provider selection is a decision gate, not a technical assumption the team can make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explain the architecture in terms of ownership, contracts, control points, and the smallest viable target state. Keep proposed controls visibly distinct.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show which workstreams can proceed in parallel and where the data dependencies join. Do not call this a calculated critical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emphasize grain, financial precision, lineage, and business-key assumptions. Ask control owners to approve definitions before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state assumptions before results. Use reconciliation and Product Control acceptance as gates; do not generalize the prototype formula to all instruments.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treat identity, promotion, alerting, support, rerun evidence, and schedule activation as explicit readiness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preserve the current architecture unless an approved requirement demands change. Sequence target controls behind source, security, and support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define evidence and defect thresholds before the test cycle; a failed financial reconciliation is a release blocker until triaged and accepted.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assign named control owners before deployment. A grants template or a successful dev run is not evidence of production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use this register to distinguish the existing component boundary from proposed controls. Component statuses and descriptions are read from the master Architecture worksheet; do not treat PLANNED or BLOCKED rows as delivered.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use this register to distinguish the existing component boundary from proposed controls. Component statuses and descriptions are read from the master Architecture worksheet; do not treat PLANNED or BLOCKED rows as delivered.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TPM perspective: use this register to distinguish the existing component boundary from proposed controls. Component statuses and descriptions are read from the master Architecture worksheet; do not treat PLANNED or BLOCKED rows as delivered.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1D4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91440" cy="544068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932688"/>
            <a:ext cx="667512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1">
                <a:solidFill>
                  <a:srgbClr val="95D8CF"/>
                </a:solidFill>
                <a:latin typeface="Aptos"/>
              </a:defRPr>
            </a:pPr>
            <a: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7132320" cy="1417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Trading Data &amp;</a:t>
            </a:r>
            <a:br/>
            <a:r>
              <a:t>Daily P&amp;L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3218688"/>
            <a:ext cx="6583680" cy="9144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800" b="0">
                <a:solidFill>
                  <a:srgbClr val="D8E4E9"/>
                </a:solidFill>
                <a:latin typeface="Aptos"/>
              </a:defRPr>
            </a:pPr>
            <a:r>
              <a:t>Evidence-based current architecture and a controlled path from proof of concept to a supportable prototype.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5349240"/>
            <a:ext cx="658368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BFD0D8"/>
                </a:solidFill>
                <a:latin typeface="Aptos"/>
              </a:defRPr>
            </a:pPr>
            <a:r>
              <a:t>As of 2026-10-14  |  Current implementation and proposed next steps clearly separated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33104" y="1234440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7F0F3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33104" y="1234440"/>
            <a:ext cx="64008" cy="107899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97696" y="1335024"/>
            <a:ext cx="24231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7696" y="1691640"/>
            <a:ext cx="2414016" cy="5577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Raw trades and daily prices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3104" y="2670048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7F0F3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33104" y="2670048"/>
            <a:ext cx="64008" cy="107899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2770632"/>
            <a:ext cx="24231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SILVER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3127248"/>
            <a:ext cx="2414016" cy="5577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Typed, validated, rejected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410565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7F0F3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3104" y="4105656"/>
            <a:ext cx="64008" cy="107899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4206240"/>
            <a:ext cx="24231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GOLD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4562856"/>
            <a:ext cx="2414016" cy="5577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Positions, valuation, P&amp;L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86416" y="2331720"/>
            <a:ext cx="0" cy="265176"/>
          </a:xfrm>
          <a:prstGeom prst="line">
            <a:avLst/>
          </a:prstGeom>
          <a:ln w="25400">
            <a:solidFill>
              <a:srgbClr val="9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186416" y="3767328"/>
            <a:ext cx="0" cy="265176"/>
          </a:xfrm>
          <a:prstGeom prst="line">
            <a:avLst/>
          </a:prstGeom>
          <a:ln w="25400">
            <a:solidFill>
              <a:srgbClr val="9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Business context and supported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01 |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3429000" cy="190195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64008" cy="190195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26464"/>
            <a:ext cx="31546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Business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783080"/>
            <a:ext cx="3145536" cy="138074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Validate synthetic equity trades and daily closes, calculate daily positions/valuation/P&amp;L, and expose exceptions.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429000" cy="190195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64008" cy="190195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26464"/>
            <a:ext cx="31546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Verified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783080"/>
            <a:ext cx="3145536" cy="138074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USD cash equities; ten configured instruments. Fees, FX, dividends, corporate actions, financing, borrow costs, and derivatives are excluded.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25880"/>
            <a:ext cx="3429000" cy="1901952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64008" cy="190195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26464"/>
            <a:ext cx="31546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Proposed / blocked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783080"/>
            <a:ext cx="3145536" cy="138074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Enterprise source contracts: PLANNED / NOT VERIFIED</a:t>
            </a:r>
            <a:br/>
            <a:r>
              <a:t>Security and operations: PLANNED / NOT VERIFIED</a:t>
            </a:r>
            <a:br/>
            <a:r>
              <a:t>Dashboard: BLOCKED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8503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Initial calculation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87952"/>
            <a:ext cx="10698480" cy="11430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0">
                <a:solidFill>
                  <a:srgbClr val="233746"/>
                </a:solidFill>
                <a:latin typeface="Aptos"/>
              </a:defRPr>
            </a:pPr>
            <a:r>
              <a:t>Simple cash equities in USD. No fees, settlement cash, FX, dividends, corporate actions, financing, borrow costs, or derivatives. A cumulative field called unrealized_pnl_proxy is explicitly not true unrealized P&amp;L.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A94442"/>
                </a:solidFill>
                <a:latin typeface="Aptos"/>
              </a:defRPr>
            </a:pPr>
            <a:r>
              <a:t>Decision gate: business and market-data owners must approve source, price definition, and calculation boundaries before production claims.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Data sources and ingress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02 | SOURCE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429000" cy="333756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4008" cy="333756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72184"/>
            <a:ext cx="31546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Trade input | IMPLEMENTED (synthetic)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28800"/>
            <a:ext cx="3145536" cy="281635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Deterministic synthetic 14-column CSV snapshot, uploaded to Unity Catalog Volume; no upstream trading-system connector is evidenced.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71600"/>
            <a:ext cx="3429000" cy="333756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71600"/>
            <a:ext cx="64008" cy="333756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472184"/>
            <a:ext cx="31546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Market price input | IMPLEMENTED (prototype provider)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828800"/>
            <a:ext cx="3145536" cy="281635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Yahoo Finance via yfinance.download; daily unadjusted Close in USD; provider rights and production approval are unverified.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429000" cy="3337560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64008" cy="3337560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72184"/>
            <a:ext cx="31546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Instrument mapping | PARTIALLY IMPLEMENTED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28800"/>
            <a:ext cx="3145536" cy="281635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Ten instrument_id-to-symbol mappings in Python configuration; books and counterparties are opaque input strings.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10698480" cy="7863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0">
                <a:solidFill>
                  <a:srgbClr val="233746"/>
                </a:solidFill>
                <a:latin typeface="Aptos"/>
              </a:defRPr>
            </a:pPr>
            <a:r>
              <a:t>Source contract gaps: production owner, delivery cutoff/completeness marker, volume/SLA, corrections/cancellations, data rights, retention, and missing-price escalation. Synthetic fixtures are for deterministic tests, not a substitute for an approved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High-level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03 |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64008" cy="111556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81912"/>
            <a:ext cx="1600199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1591055" cy="594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CSV + yfinance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1234440"/>
            <a:ext cx="2212848" cy="932688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61488" y="1234440"/>
            <a:ext cx="64008" cy="93268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335024"/>
            <a:ext cx="193852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Bronze | Delta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691640"/>
            <a:ext cx="1929384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raw trades / raw closes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1488" y="2468880"/>
            <a:ext cx="2212848" cy="932688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61488" y="2468880"/>
            <a:ext cx="64008" cy="93268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569464"/>
            <a:ext cx="193852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Silver | Delta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926080"/>
            <a:ext cx="1929384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typed + rejects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96128" y="1234440"/>
            <a:ext cx="2240280" cy="932688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96128" y="1234440"/>
            <a:ext cx="64008" cy="932688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335024"/>
            <a:ext cx="1965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Gold | Delta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691640"/>
            <a:ext cx="19568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positions + valuation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96128" y="2468880"/>
            <a:ext cx="2240280" cy="932688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96128" y="2468880"/>
            <a:ext cx="64008" cy="932688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569464"/>
            <a:ext cx="1965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Gold | Delta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2926080"/>
            <a:ext cx="19568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daily P&amp;L + breaks + audit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85632" y="1481328"/>
            <a:ext cx="3017520" cy="111556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85632" y="1481328"/>
            <a:ext cx="64008" cy="111556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0224" y="1581912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0224" y="1938528"/>
            <a:ext cx="2734056" cy="594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read-only notebook + SQL</a:t>
            </a:r>
            <a:br/>
            <a:r>
              <a:t>dashboard proposed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395728" y="1691640"/>
            <a:ext cx="329184" cy="155448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67912" y="2194560"/>
            <a:ext cx="0" cy="246888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10912" y="1865376"/>
            <a:ext cx="548640" cy="105156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29984" y="2194560"/>
            <a:ext cx="0" cy="246888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882127" y="2029968"/>
            <a:ext cx="566929" cy="877824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49808" y="416052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F3F6F7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8" y="4160520"/>
            <a:ext cx="64008" cy="109728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261104"/>
            <a:ext cx="29718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Databricks Job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617720"/>
            <a:ext cx="2962656" cy="5760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Six wheel tasks; trade and price branches run in parallel, converge at build_positions, then calculate_daily_pnl.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62272" y="416052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F3F6F7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62272" y="4160520"/>
            <a:ext cx="64008" cy="109728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26864" y="4261104"/>
            <a:ext cx="29718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Unity Catalog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26864" y="4617720"/>
            <a:ext cx="2962656" cy="5760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Catalog cibc with bronze, silver, and gold schemas and a bronze trade_files Volume.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56448" y="416052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F3F6F7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56448" y="4160520"/>
            <a:ext cx="64008" cy="1097280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4261104"/>
            <a:ext cx="29718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Audit and exception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617720"/>
            <a:ext cx="2962656" cy="5760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Task-attempt audit log, Silver reject history, and run-level valuation breaks; automated notifications are not evidenced.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5577840"/>
            <a:ext cx="10515600" cy="4389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647786"/>
                </a:solidFill>
                <a:latin typeface="Aptos"/>
              </a:defRPr>
            </a:pPr>
            <a:r>
              <a:t>Current physical data model has 10 Delta tables. No separate reporting schema, dashboard dataset, or persisted reference schema is present.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End-to-end flow and workflow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04 |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64008" cy="84124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700784"/>
            <a:ext cx="18745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ingest_prices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57400"/>
            <a:ext cx="186537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Yahoo → Bronze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600200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1600200"/>
            <a:ext cx="64008" cy="84124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1700784"/>
            <a:ext cx="18745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process_prices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057400"/>
            <a:ext cx="186537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Bronze → Silver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71800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971800"/>
            <a:ext cx="64008" cy="84124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072384"/>
            <a:ext cx="18745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ingest_trades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429000"/>
            <a:ext cx="186537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Volume → Bronze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2971800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71800" y="2971800"/>
            <a:ext cx="64008" cy="84124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6392" y="3072384"/>
            <a:ext cx="18745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process_trades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6392" y="3429000"/>
            <a:ext cx="186537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Bronze → Silver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2286000"/>
            <a:ext cx="2560320" cy="84124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0" y="2286000"/>
            <a:ext cx="64008" cy="84124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16752" y="2386584"/>
            <a:ext cx="22860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build_positions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743200"/>
            <a:ext cx="227685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Silver trades + prices → Gold positions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286000"/>
            <a:ext cx="2560320" cy="84124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6840" y="2286000"/>
            <a:ext cx="64008" cy="84124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2" y="2386584"/>
            <a:ext cx="22860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calculate_daily_pnl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2743200"/>
            <a:ext cx="227685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positions + trades + prices → Gold P&amp;L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88336" y="2011680"/>
            <a:ext cx="237744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688336" y="3383280"/>
            <a:ext cx="237744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66360" y="2011680"/>
            <a:ext cx="630936" cy="50292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166360" y="2834640"/>
            <a:ext cx="630936" cy="54864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58200" y="2706624"/>
            <a:ext cx="502920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5800" y="4315968"/>
            <a:ext cx="10789920" cy="51206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Actual DAG: two independent source branches; build_positions joins both Silver outputs; calculate_daily_pnl follows positions.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965192"/>
            <a:ext cx="10789920" cy="85953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Job controls: max_concurrent_runs=1; parameters include tickers, inclusive start/end dates, and trade_input_path. Weekday 18:00 America/New_York schedule is configured PAUSED; development Bundle mode keeps schedule paused.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Logical model and physical grains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05 | 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267712" cy="126187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64008" cy="126187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53896"/>
            <a:ext cx="199339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Silver trades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810512"/>
            <a:ext cx="1984248" cy="74066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trade_id (one current version)</a:t>
            </a:r>
            <a:br/>
            <a:r>
              <a:t>book / counterparty / instrument</a:t>
            </a:r>
            <a:br/>
            <a:r>
              <a:t>signed quantity, trade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54680"/>
            <a:ext cx="2267712" cy="126187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154680"/>
            <a:ext cx="64008" cy="126187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255264"/>
            <a:ext cx="199339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Silver prices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611880"/>
            <a:ext cx="1984248" cy="74066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symbol + price_date</a:t>
            </a:r>
            <a:br/>
            <a:r>
              <a:t>close DECIMAL(18,6)</a:t>
            </a:r>
            <a:br/>
            <a:r>
              <a:t>USD; source/run lineage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139696"/>
            <a:ext cx="2423160" cy="1417320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03320" y="2139696"/>
            <a:ext cx="64008" cy="1417320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1" y="2240279"/>
            <a:ext cx="21488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Gold positions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7911" y="2596896"/>
            <a:ext cx="2139696" cy="8961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date + book + counterparty</a:t>
            </a:r>
            <a:br/>
            <a:r>
              <a:t>+ instrument + currency</a:t>
            </a:r>
            <a:br/>
            <a:r>
              <a:t>cumulative signed quantity</a:t>
            </a:r>
            <a:br/>
            <a:r>
              <a:t>exact-date mark / market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9168" y="2139696"/>
            <a:ext cx="2267712" cy="1417320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59168" y="2139696"/>
            <a:ext cx="64008" cy="1417320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2240279"/>
            <a:ext cx="199339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Gold daily P&amp;L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2596896"/>
            <a:ext cx="1984248" cy="8961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date + book + symbol</a:t>
            </a:r>
            <a:br/>
            <a:r>
              <a:t>+ currency</a:t>
            </a:r>
            <a:br/>
            <a:r>
              <a:t>opening/closing, marks, P&amp;L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57232" y="1353312"/>
            <a:ext cx="1828800" cy="126187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57232" y="1353312"/>
            <a:ext cx="64008" cy="126187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21824" y="1453896"/>
            <a:ext cx="15544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21824" y="1810512"/>
            <a:ext cx="1545336" cy="74066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run + task attempt</a:t>
            </a:r>
            <a:br/>
            <a:r>
              <a:t>status / metrics / 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57232" y="3154680"/>
            <a:ext cx="1828800" cy="1261872"/>
          </a:xfrm>
          <a:prstGeom prst="roundRect">
            <a:avLst>
              <a:gd name="adj" fmla="val 8000"/>
            </a:avLst>
          </a:prstGeom>
          <a:solidFill>
            <a:srgbClr val="FAF0E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57232" y="3154680"/>
            <a:ext cx="64008" cy="126187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21824" y="3255264"/>
            <a:ext cx="15544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Breaks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3611880"/>
            <a:ext cx="1545336" cy="74066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run + instrument/date</a:t>
            </a:r>
            <a:br/>
            <a:r>
              <a:t>+ break type (or trade)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98064" y="1993392"/>
            <a:ext cx="859536" cy="512064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798064" y="3182112"/>
            <a:ext cx="859536" cy="566927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163056" y="2852928"/>
            <a:ext cx="850392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7616" y="3621024"/>
            <a:ext cx="1453896" cy="91439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94944" y="4919472"/>
            <a:ext cx="10881360" cy="9601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Physical definitions: 10 DDL tables; Bronze preserves raw strings, Silver uses typed DATE/TIMESTAMP/DECIMAL, Gold uses DECIMAL(28,6) quantities and DECIMAL(38,6) values. Business keys are documented assumptions, not declared database primary-key constraints. No partitioning/clustering is configured.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Position and P&amp;L calculation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06 | FINANCIAL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257800" cy="3401568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64008" cy="340156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49834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Position calculation | 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47088"/>
            <a:ext cx="4974336" cy="2880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BUY quantity is positive; SELL quantity is negative.</a:t>
            </a:r>
            <a:br/>
            <a:br/>
            <a:r>
              <a:t>Daily net = SUM(signed trade quantity)</a:t>
            </a:r>
            <a:br/>
            <a:r>
              <a:t>Closing position = cumulative SUM(daily net)</a:t>
            </a:r>
            <a:br/>
            <a:r>
              <a:t>Market value = closing position × same-day close</a:t>
            </a:r>
            <a:br/>
            <a:br/>
            <a:r>
              <a:t>Grain: date / book / counterparty / instrument / currency.</a:t>
            </a:r>
            <a:br/>
            <a:r>
              <a:t>No-trade sessions carry the position. Price gaps leave value NULL and create a break.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89888"/>
            <a:ext cx="5257800" cy="3401568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89888"/>
            <a:ext cx="64008" cy="3401568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490472"/>
            <a:ext cx="49834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Daily P&amp;L | simplified, implemented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847088"/>
            <a:ext cx="4974336" cy="2880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Opening quantity = closing quantity − daily net quantity</a:t>
            </a:r>
            <a:br/>
            <a:br/>
            <a:r>
              <a:t>Daily P&amp;L = OpeningQty × (CurrentClose − PreviousClose)</a:t>
            </a:r>
            <a:br/>
            <a:r>
              <a:t>+ (DailyNetQty × CurrentClose − signed trade consideration)</a:t>
            </a:r>
            <a:br/>
            <a:br/>
            <a:r>
              <a:t>The trade-day term captures execution-to-close economics without applying the full day's price move to new quantity. Missing current close, or missing prior baseline for nonzero opening inventory, yields NULL + break.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166360"/>
            <a:ext cx="10698480" cy="8229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Example: opening 10 shares; buy 5 at 106; prior close 105; current close 108. Price move = 10×3 = 30; trade-day term = 5×108−5×106 = 10; daily P&amp;L = 40. Cash, fees, realized/unrealized accounting, FX, corporate actions, and accounting sign-off are outside this prototype.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Deployment architecture and operational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07 | DEPLOY AND OPERATE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26464"/>
            <a:ext cx="2423160" cy="1426464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26464"/>
            <a:ext cx="64008" cy="1426464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21488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Source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883664"/>
            <a:ext cx="2139696" cy="9052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Python package + notebooks</a:t>
            </a:r>
            <a:br/>
            <a:r>
              <a:t>pytest suite</a:t>
            </a:r>
            <a:br/>
            <a:r>
              <a:t>Bundle 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426464"/>
            <a:ext cx="2423160" cy="1426464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1426464"/>
            <a:ext cx="64008" cy="1426464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1527048"/>
            <a:ext cx="21488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Asset Bundle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1883664"/>
            <a:ext cx="2139696" cy="9052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Build wheel</a:t>
            </a:r>
            <a:br/>
            <a:r>
              <a:t>validate / deploy</a:t>
            </a:r>
            <a:br/>
            <a:r>
              <a:t>current target: dev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26464"/>
            <a:ext cx="2423160" cy="1426464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26464"/>
            <a:ext cx="64008" cy="1426464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527048"/>
            <a:ext cx="21488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Databricks 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1883664"/>
            <a:ext cx="2139696" cy="9052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Six wheel tasks</a:t>
            </a:r>
            <a:br/>
            <a:r>
              <a:t>serverless environment</a:t>
            </a:r>
            <a:br/>
            <a:r>
              <a:t>weekday schedule paused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9992" y="1426464"/>
            <a:ext cx="2560320" cy="1426464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79992" y="1426464"/>
            <a:ext cx="64008" cy="1426464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1527048"/>
            <a:ext cx="22860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Unity Catalog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1883664"/>
            <a:ext cx="2276856" cy="9052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cibc schemas + Volume</a:t>
            </a:r>
            <a:br/>
            <a:r>
              <a:t>managed Delta tables</a:t>
            </a:r>
            <a:br/>
            <a:r>
              <a:t>grants template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62656" y="2130552"/>
            <a:ext cx="356616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15584" y="2130552"/>
            <a:ext cx="356616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68512" y="2130552"/>
            <a:ext cx="365760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5800" y="3767328"/>
            <a:ext cx="3383280" cy="1389888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767328"/>
            <a:ext cx="64008" cy="138988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3867912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Current operational signals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4224528"/>
            <a:ext cx="3099816" cy="8686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Task audit status/counts/errors</a:t>
            </a:r>
            <a:br/>
            <a:r>
              <a:t>Silver reject history</a:t>
            </a:r>
            <a:br/>
            <a:r>
              <a:t>Run-level valuation breaks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767328"/>
            <a:ext cx="3383280" cy="1389888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3767328"/>
            <a:ext cx="64008" cy="1389888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3867912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Current gaps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224528"/>
            <a:ext cx="3099816" cy="8686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No automated alerting</a:t>
            </a:r>
            <a:br/>
            <a:r>
              <a:t>No CI / non-dev target</a:t>
            </a:r>
            <a:br/>
            <a:r>
              <a:t>Schedule paused; principal placeholder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3767328"/>
            <a:ext cx="3383280" cy="138988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3767328"/>
            <a:ext cx="64008" cy="138988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1" y="3867912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Readiness gates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1" y="4224528"/>
            <a:ext cx="3099816" cy="8686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Provider + data rights</a:t>
            </a:r>
            <a:br/>
            <a:r>
              <a:t>Least privilege + support owner</a:t>
            </a:r>
            <a:br/>
            <a:r>
              <a:t>Rerun/UAT + retention/RTO/RPO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577840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647786"/>
                </a:solidFill>
                <a:latin typeface="Aptos"/>
              </a:defRPr>
            </a:pPr>
            <a:r>
              <a:t>Existing scripts/deploy.sh uses Databricks CLI and the Bundle. No production Bundle target or promotion pipeline is present; all future deployment architecture is proposed.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Current prototype and proposed target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08 | CURRENT AND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44168"/>
            <a:ext cx="5321808" cy="361188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64008" cy="361188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44752"/>
            <a:ext cx="504748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Current | master Architecture worksheet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01368"/>
            <a:ext cx="5038344" cy="30906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Business outcome: Validate synthetic equity trades and daily closes, calculate daily positions/valuation/P&amp;L, and expose exceptions. [IMPLEMENTED (prototype scope)]</a:t>
            </a:r>
            <a:br/>
            <a:br/>
            <a:r>
              <a:t>Calculation boundary: USD cash equities; ten configured instruments. Fees, FX, dividends, corporate actions, financing, borrow costs, and derivatives are excluded. [IMPLEMENTED (simplified)]</a:t>
            </a:r>
            <a:br/>
            <a:br/>
            <a:r>
              <a:t>Trade input: Deterministic synthetic 14-column CSV snapshot, uploaded to Unity Catalog Volume; no upstream trading-system connector is evidenced. [IMPLEMENTED (synthetic)]</a:t>
            </a:r>
            <a:br/>
            <a:br/>
            <a:r>
              <a:t>Market price input: Yahoo Finance via yfinance.download; daily unadjusted Close in USD; provider rights and production approval are unverified. [IMPLEMENTED (prototype provider)]</a:t>
            </a:r>
            <a:br/>
            <a:br/>
            <a:r>
              <a:t>Instrument mapping: Ten instrument_id-to-symbol mappings in Python configuration; books and counterparties are opaque input strings. [PARTIALLY IMPLEMENTED]</a:t>
            </a:r>
            <a:br/>
            <a:br/>
            <a:r>
              <a:t>Unity Catalog: Catalog cibc with bronze, silver, and gold schemas and a bronze trade_files Volume. [IMPLEMENTED]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344168"/>
            <a:ext cx="5321808" cy="3611880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1344168"/>
            <a:ext cx="64008" cy="3611880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444752"/>
            <a:ext cx="504748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Target | master Architecture worksheet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801368"/>
            <a:ext cx="5038344" cy="30906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Enterprise source contracts: Approved trade and licensed market-data contracts, rights, completeness SLAs, and correction semantics. [PLANNED / NOT VERIFIED]</a:t>
            </a:r>
            <a:br/>
            <a:br/>
            <a:r>
              <a:t>Security and operations: Provisioned runtime identity, least-privilege review, automated alerts, retention/recovery policy, and named support ownership. [PLANNED / NOT VERIFIED]</a:t>
            </a:r>
            <a:br/>
            <a:br/>
            <a:r>
              <a:t>Dashboard: User-accepted reporting dashboard and controlled access after audience and requirements are approved. [BLOCKED]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349240"/>
            <a:ext cx="1078992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A94442"/>
                </a:solidFill>
                <a:latin typeface="Aptos"/>
              </a:defRPr>
            </a:pPr>
            <a:r>
              <a:t>Target-state components are backlog proposals, not provisioned controls. No new schema, data provider, BI platform, or CI service is assumed by this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Data quality and reconciliation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09 | QUALITY AND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401568" cy="327355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4008" cy="327355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72184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Ingestion / Silver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28800"/>
            <a:ext cx="3118104" cy="275234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Exact CSV header and structural checks</a:t>
            </a:r>
            <a:br/>
            <a:r>
              <a:t>Typed conversion; business rules</a:t>
            </a:r>
            <a:br/>
            <a:r>
              <a:t>Version and duplicate selection</a:t>
            </a:r>
            <a:br/>
            <a:r>
              <a:t>Reject history with reason codes</a:t>
            </a:r>
            <a:br/>
            <a:r>
              <a:t>Expected price-session completeness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71600"/>
            <a:ext cx="3401568" cy="327355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71600"/>
            <a:ext cx="64008" cy="327355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472184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Gold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828800"/>
            <a:ext cx="3118104" cy="275234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Position key: date/book/counterparty/instrument/currency</a:t>
            </a:r>
            <a:br/>
            <a:br/>
            <a:r>
              <a:t>P&amp;L key: date/book/symbol/currency</a:t>
            </a:r>
            <a:br/>
            <a:br/>
            <a:r>
              <a:t>NULL for missing required marks/baselines; create valuation breaks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401568" cy="3273552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64008" cy="327355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72184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Evidence and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28800"/>
            <a:ext cx="3118104" cy="275234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Unit and fixture tests in repository</a:t>
            </a:r>
            <a:br/>
            <a:r>
              <a:t>2026-10-11 run: 5,990 positions and 835 P&amp;L rows; zero reported independent SQL mismatches</a:t>
            </a:r>
            <a:br/>
            <a:br/>
            <a:r>
              <a:t>Same-input second run: NOT VERIFIED</a:t>
            </a:r>
            <a:br/>
            <a:r>
              <a:t>3 focused local tests fail on stale DDL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029200"/>
            <a:ext cx="10607040" cy="7132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Release gate: rerun in a supported Spark/Delta environment, reconcile by business grain, close or disposition test failures, obtain Product Control acceptance, then record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Security, deployment and operations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10 | SECURITY AND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44168"/>
            <a:ext cx="3401568" cy="347472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64008" cy="347472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44752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Verified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01368"/>
            <a:ext cx="3118104" cy="29535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Unity Catalog catalog/schemas and Volume</a:t>
            </a:r>
            <a:br/>
            <a:br/>
            <a:r>
              <a:t>Grant template with principal placeholder</a:t>
            </a:r>
            <a:br/>
            <a:br/>
            <a:r>
              <a:t>CLI authentication kept outside source</a:t>
            </a:r>
            <a:br/>
            <a:br/>
            <a:r>
              <a:t>Task audit, error details, rejects, breaks</a:t>
            </a:r>
            <a:br/>
            <a:br/>
            <a:r>
              <a:t>Asset Bundle builds/deploys dev wheel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44168"/>
            <a:ext cx="3401568" cy="3474720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44168"/>
            <a:ext cx="64008" cy="3474720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444752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Not verified /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801368"/>
            <a:ext cx="3118104" cy="29535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No production service principal or non-dev target evidenced</a:t>
            </a:r>
            <a:br/>
            <a:br/>
            <a:r>
              <a:t>No CI workflow in repository</a:t>
            </a:r>
            <a:br/>
            <a:br/>
            <a:r>
              <a:t>No automated failure notification</a:t>
            </a:r>
            <a:br/>
            <a:br/>
            <a:r>
              <a:t>Retention, RTO/RPO, support SLA not approved</a:t>
            </a:r>
            <a:br/>
            <a:br/>
            <a:r>
              <a:t>Schedule PAUSED; no go-live approval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44168"/>
            <a:ext cx="3401568" cy="347472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44168"/>
            <a:ext cx="64008" cy="347472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44752"/>
            <a:ext cx="312724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Readiness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01368"/>
            <a:ext cx="3118104" cy="29535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Confirm data classification and access</a:t>
            </a:r>
            <a:br/>
            <a:br/>
            <a:r>
              <a:t>Review least privilege and secrets</a:t>
            </a:r>
            <a:br/>
            <a:br/>
            <a:r>
              <a:t>Test alerts, rerun, recovery and rollback</a:t>
            </a:r>
            <a:br/>
            <a:br/>
            <a:r>
              <a:t>Approve owner, retention and support process</a:t>
            </a:r>
            <a:br/>
            <a:br/>
            <a:r>
              <a:t>Explicit no-go if any critical control is 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193792"/>
            <a:ext cx="10607040" cy="53035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647786"/>
                </a:solidFill>
                <a:latin typeface="Aptos"/>
              </a:defRPr>
            </a:pPr>
            <a:r>
              <a:t>GitHub/CI is a proposed delivery control in this plan; the checked-in repository currently shows the Databricks Asset Bundle and deploy script, not a CI workflow.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Architecture Register | Components 1-9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11 | MASTER WORKBOOK ARCHITECTURE REGISTER (1)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2042648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672"/>
                <a:gridCol w="1024128"/>
                <a:gridCol w="1417320"/>
                <a:gridCol w="3794760"/>
                <a:gridCol w="1188720"/>
                <a:gridCol w="1572768"/>
                <a:gridCol w="1143000"/>
                <a:gridCol w="1097280"/>
              </a:tblGrid>
              <a:tr h="491947"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 ID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Section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Implementation Status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 / Source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Requirement / Story IDs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Predecessor Component IDs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ARCH-01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Context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Business outcome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Validate synthetic equity trades and daily closes, calculate daily positions/valuation/P&amp;L, and expose exceptions.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 (prototype scope)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README.md; source modules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BR-001; BR-002; BR-004; BR-005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ARCH-02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Scope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Calculation boundary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USD cash equities; ten configured instruments. Fees, FX, dividends, corporate actions, financing, borrow costs, and derivatives are excluded.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 (simplified)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README.md; config.py; calculate_daily_pnl.py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FR-006; FR-007; FR-008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ARCH-03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Source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Trade input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Deterministic synthetic 14-column CSV snapshot, uploaded to Unity Catalog Volume; no upstream trading-system connector is evidenced.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 (synthetic)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scripts/generate_trades.py; bronze/ingest_trades.py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SRC-TRADE; FR-001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ARCH-04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Source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Market price input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Yahoo Finance via yfinance.download; daily unadjusted Close in USD; provider rights and production approval are unverified.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 (prototype provider)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bronze/ingest_prices.py; README.md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SRC-PRICE; FR-002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ARCH-05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Reference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Instrument mapping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Ten instrument_id-to-symbol mappings in Python configuration; books and counterparties are opaque input strings.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PARTIALLY IMPLEMENTED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trade_pipeline/config.py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SRC-REF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ARCH-06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Governance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Unity Catalog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Catalog cibc with bronze, silver, and gold schemas and a bronze trade_files Volume.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database/catalog.sql; database schemas and Volume DDL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FR-011; FR-012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ARCH-07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Bronze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Raw Delta tables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cibc.bronze.trades is a validated full snapshot overwrite; cibc.bronze.market_prices is merged by symbol and date.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database/tables/bronze/*.sql; bronze modules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FR-001; FR-002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ARCH-08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Silver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Validation and rejects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Typed trade and price tables with business validation, version selection, lineage, and history-preserving reject tables.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silver modules; database/tables/silver/*.sql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FR-003; FR-004; FR-005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</a:tr>
              <a:tr h="491949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ARCH-09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Gold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Positions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Cumulative signed quantities by valuation date, book, counterparty, instrument, and currency; exact-date close valuation.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gold/build_positions.py; cibc.gold.positions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FR-006; FR-007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Architecture Register | Components 10-18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11 | MASTER WORKBOOK ARCHITECTURE REGISTER (2)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2042648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672"/>
                <a:gridCol w="1024128"/>
                <a:gridCol w="1417320"/>
                <a:gridCol w="3794760"/>
                <a:gridCol w="1188720"/>
                <a:gridCol w="1572768"/>
                <a:gridCol w="1143000"/>
                <a:gridCol w="1097280"/>
              </a:tblGrid>
              <a:tr h="491947"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 ID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Section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Implementation Status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 / Source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Requirement / Story IDs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Predecessor Component IDs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ARCH-10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Gold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Daily P&amp;L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Opening inventory market move plus the signed trade-to-close term; missing current/baseline prices yield NULL and breaks.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 (simplified)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gold/calculate_daily_pnl.py; cibc.gold.daily_pnl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FR-008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ARCH-11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Workflow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Databricks Job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Six wheel tasks; trade and price branches run in parallel, converge at build_positions, then calculate_daily_pnl.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IMPLEMENTED; dev only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jobs/resources/trade_pipeline.job.yml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FR-012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ARCH-12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Operations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Audit and exception data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Task-attempt audit log, Silver reject history, and run-level valuation breaks; automated notifications are not evidenced.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PARTIALLY IMPLEMENTED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trade_pipeline/audit.py; gold/break_report.py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FR-011; FR-013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ARCH-13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Reporting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Current report surfaces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Run-trigger and read-only report notebooks plus demo SQL; no deployed dashboard is evidenced.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PARTIALLY IMPLEMENTED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notebooks/01_run_pipeline.py; notebooks/02_pipeline_report.py; docs/demo_queries.sql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FR-010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ARCH-14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Deployment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Asset Bundle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Python wheel build and Databricks Asset Bundle dev target; schedule configured PAUSED; no CI or non-dev target is evidenced.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PARTIALLY IMPLEMENTED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databricks.yml; jobs/resources/trade_pipeline.job.yml; scripts/deploy.sh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FR-012; NFR-09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ARCH-15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Enterprise source contracts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Approved trade and licensed market-data contracts, rights, completeness SLAs, and correction semantics.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PLANNED / NOT VERIFIED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Open source decisions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TMP-006; TMP-007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ARCH-16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Security and operations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Provisioned runtime identity, least-privilege review, automated alerts, retention/recovery policy, and named support ownership.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PLANNED / NOT VERIFIED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Open readiness gates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TMP-005; TMP-024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91947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ARCH-17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Dashboard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User-accepted reporting dashboard and controlled access after audience and requirements are approved.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BLOCKED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TMP-020; reporting/access decisions pending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FR-010; TMP-020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</a:tr>
              <a:tr h="491949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TASK-INGEST-PRICES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Workflow Task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ingest_prices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Downloads daily unadjusted closes and merges raw price records to Bronze.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jobs/resources/trade_pipeline.job.yml; trade_pipeline/bronze/ingest_prices.py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FR-002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Architecture Register | Components 19-23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11 | MASTER WORKBOOK ARCHITECTURE REGISTER (3)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2042648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672"/>
                <a:gridCol w="1024128"/>
                <a:gridCol w="1417320"/>
                <a:gridCol w="3794760"/>
                <a:gridCol w="1188720"/>
                <a:gridCol w="1572768"/>
                <a:gridCol w="1143000"/>
                <a:gridCol w="1097280"/>
              </a:tblGrid>
              <a:tr h="819912"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 ID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Section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Implementation Status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 / Source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Requirement / Story IDs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Predecessor Component IDs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</a:tr>
              <a:tr h="819912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TASK-PROCESS-PRICES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Workflow Task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process_prices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Validates Bronze prices, checks expected sessions, merges typed Silver prices, and records rejects.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jobs/resources/trade_pipeline.job.yml; trade_pipeline/silver/process_prices.py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FR-003; FR-005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TASK-INGEST-PRICES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819912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TASK-INGEST-TRADES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Workflow Task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ingest_trades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Validates the 14-column CSV structure and replaces the Bronze trade snapshot.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jobs/resources/trade_pipeline.job.yml; trade_pipeline/bronze/ingest_trades.py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FR-001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</a:tr>
              <a:tr h="819912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TASK-PROCESS-TRADES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Workflow Task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process_trades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Casts and validates trades, selects the latest usable version, and writes reject history.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jobs/resources/trade_pipeline.job.yml; trade_pipeline/silver/process_trades.py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FR-003; FR-004; FR-005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TASK-INGEST-TRADES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819912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TASK-BUILD-POSITIONS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Workflow Task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build_positions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Aggregates signed trades into daily cumulative positions and exact-date valuation.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jobs/resources/trade_pipeline.job.yml; trade_pipeline/gold/build_positions.py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FR-006; FR-007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TASK-PROCESS-PRICES; TASK-PROCESS-TRADES</a:t>
                      </a:r>
                    </a:p>
                  </a:txBody>
                  <a:tcPr anchor="t">
                    <a:solidFill>
                      <a:srgbClr val="F3F6F7"/>
                    </a:solidFill>
                  </a:tcPr>
                </a:tc>
              </a:tr>
              <a:tr h="819912"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TASK-CALCULATE-PNL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Workflow Task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calculate_daily_pnl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Calculates simplified daily cash-equity P&amp;L and missing-price/baseline breaks.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IMPLEMENTED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jobs/resources/trade_pipeline.job.yml; trade_pipeline/gold/calculate_daily_pnl.py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FR-008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233746"/>
                          </a:solidFill>
                          <a:latin typeface="Aptos"/>
                        </a:defRPr>
                      </a:pPr>
                      <a:r>
                        <a:t>TASK-BUILD-POSITIONS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Evidence-based Databricks trading platform delivery plan</dc:subject>
  <dc:creator>Project Delivery Planning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